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3 Title: Welcome evaluators to our final project presentation and working prototype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3-tier architecture: Presentation Web GUI/CLI, Python Logic Controller, and 3NF Relational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Outpatient continuum from patient intake, overlap-free booking, to consultation with ICD-10 and prescriptions.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Inpatient bed allocation with visual map, discharge workflow, and billing with payment ceiling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Demonstrates dual-layer defense: frontend validation and database triggers preventing slot overlaps, bed conflicts, and payment breaches.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Reporting dashboard displaying the 5 production views across Clinical, Operations, and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Test matrix verifying 5 positive CRUD operations and 5 negative integrity constraint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Conclusion and invitation to the live prototype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38912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DBMS PBL • REVIEW 3 (WEEK 16 — FINAL 5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Hospital Appointment &amp;</a:t>
            </a:r>
            <a:br/>
            <a:r>
              <a:t>Patient Care Management System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Complete Working Prototype, End-to-End Clinical Workflows, Defensive Error Handling &amp; Final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D9488"/>
                </a:solidFill>
              </a:defRPr>
            </a:pPr>
            <a:r>
              <a:t>APP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PYTHON PROTOTYPE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Zero-dependency application with Web &amp; CLI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284C7"/>
                </a:solidFill>
              </a:defRPr>
            </a:pPr>
            <a:r>
              <a:t>CRUD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COMPLETE WORKFLOWS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Intake, booking, consultation, beds, billing &amp; receipts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E11D48"/>
                </a:solidFill>
              </a:defRPr>
            </a:pPr>
            <a:r>
              <a:t>DEFENSE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INTEGRITY TRIGGERS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Active triggers preventing overlaps and bed collisions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931920"/>
            <a:ext cx="2560320" cy="2103120"/>
          </a:xfrm>
          <a:prstGeom prst="roundRect">
            <a:avLst/>
          </a:prstGeom>
          <a:solidFill>
            <a:srgbClr val="111E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5/5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EVALUATION READY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Full PBL report, test logs, code, screens &amp; viva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1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Three-Tier Application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Modular separation between Presentation Layer, Business Logic Engine, and Relational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UI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Tier 1: Presentation Layer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Responsive Web Dashboard: Modern CSS layout (cards, glassmorphism, responsive grid).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Real-Time Interaction: Live patient search, visual bed allocation map, and modals.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Interactive SQL Console: Integrated web sandbox for live query execution.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Terminal CLI Mode: Lightweight menu-driven interface for fast terminal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Tier 2: Business Logic Engine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Zero-Dependency Python Controller: Built on Python standard library http.server.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RESTful JSON API: Clean modular endpoints for Patients, Encounters, Beds, Bills.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Transaction Management: Enforces ACID guarantees across multi-table writes.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Defensive Error Interception: Translates SQL constraint aborts into clear user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Tier 3: Database Engine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Relational Database: Embedded SQLite / PostgreSQL with full 3NF normalization.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Active DDL Triggers: Schema-level collision detection and date sanity checks.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5 Production Views: Encapsulates complex joins for rapid reporting.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Performance Indexes: B-Tree indexes on foreign keys and search predicates.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2 • CLINICAL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Outpatient Registration &amp; Clinical Workflows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Seamless clinical journey: Patient Intake ➔ Appointment Booking ➔ Clinical Consultation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1. Patient Intake &amp; Search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Create (C): Master Patient Index intake with validation (phone uniqueness, DOB, blood group).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Read (R): Real-time asynchronous search by name, phone number, or patient ID.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Update (U): Patient demographics, emergency contacts, and residential addresses.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Archive (D): Soft deactivation preserving historical medical continuity.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2. Overlap-Free Slot Booking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Roster Integration: Validates doctor shifts and daily slot capacities.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Collision Prevention: Trigger trg_prevent_appointment_overlap checks time intervals.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Status Lifecycle: Transitions from SCHEDULED ➔ CONFIRMED ➔ COMPLETED.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Cancellation: Immediate release of slots for incoming bookings.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3. Consultation &amp; Diagnostics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1:1 Clinical Encounter: Links directly to appointment token with symptom recording.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ICD-10 Diagnoses: Standard disease coding with severity levels (Mild to Critical).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3NF Prescriptions: Decomposed line items (medicine, dosage, frequency, duration).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Diagnostic Lab Orders: Dispatches test orders directly to laboratory worklists.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2 • INPATIENT &amp;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Inpatient Bed Allocation &amp; Billing Ledger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Ward census management with single-occupant bed locking and automated invoice settlement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Inpatient Bed Allocation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Interactive Bed Map: Color-coded visual grid (Green = Available, Red = Occupied).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1 Active Patient Per Bed: Trigger trg_prevent_bed_double_booking aborts conflicts.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Attending Clinician Link: Connects patient, bed, ward, and admitting doctor.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Discharge Workflow: Validates discharge &gt;= admit and logs clinical summary.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Consolidated Hospital Billing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OPD &amp; IPD Invoices: Consolidates consultation fees, room rent, and lab tests.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Net Payable Formula: CHECK (net = total - discount + tax).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Non-Negative Balances: All line items and totals guaranteed &gt;= 0.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Audit Trail: Invoices link directly to consultation or admission.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Remittance &amp; Payment Limits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Multi-Channel Support: UPI, Credit Card, Debit Card, Cash, and Insurance.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Ceiling Check: CHECK (paid &lt;= net) eliminates overpayments.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Automated Trigger: Increments receipts and sets PAID status.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Printable Receipt: Instant itemized voucher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2 • DEFENSIVE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Robust Validations &amp; Defensive Error Handling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Dual-layer defense: Frontend form validation combined with unbreachable Database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Appointment Overlap Guard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Scenario: Booking Doctor 1 at 09:10 when a 09:00-09:20 slot exists.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Database Enforcement: Trigger raises ABORT with custom exception message.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Application Response: Intercepts error and displays user-friendly collision alert.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100% protection against clinician double-booking.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BED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Bed Double-Booking Guard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Scenario: Admitting a second patient to an already occupied bed.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Database Enforcement: Trigger rejects insert with 'Bed currently has an active patient'.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Application Response: UI highlights bed in red and blocks form submission.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Prevents physical bed occupancy conflicts.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SANITY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Chronological &amp; Financial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Backwards Dates: CHECK constraint rejects discharge prior to admission intake.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Payment Ceiling: Rejects payments exceeding invoice net payable.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Negative Values: Strict checks blocking negative consultation fees or quantities.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Outcome: Preserves accounting and chronological sanity.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2 •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Analytical Reporting via 5 Production Views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Instant role-tailored reports delivering clinical insights and administrative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Clinical Reporting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view_patient_history: Comprehensive longitudinal summary of visits, doctors seen, primary diagnoses, and count of medications &amp; lab tests.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view_pending_tests: Diagnostic laboratory worklist filtering tests awaiting collection or processing with turnaround hour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Operational Rostering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view_doctor_schedules: Real-time duty roster displaying shift hours, max capacity, currently booked appointments, and free slots.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view_bed_occupancy: Live ward bed census computing operational beds, active inpatients, vacancy, and occupancy percentage.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Financial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view_outstanding_bills_revenue: Complete billing ledger tracking invoices, gross revenue, collections, and pending balances.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Interactive SQL Console: Live query runner enabling ad-hoc SQL execution and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DELIVERABLE 3 • TEST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CRUD &amp; Integrity Test Execution Matrix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Systematic verification of all functional modules, triggers, and error recovery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1810512"/>
            <a:ext cx="8229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PASS 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Functional Test Cases (100% Passed)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TC-01: Patient registration with valid inputs ➔ Successfully created ID #11.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TC-02: Search patient by phone '+91 91234 56780' ➔ Instant record match.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TC-03: Booking appointment in free slot ➔ Token generated with status SCHEDULED.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TC-04: Consultation entry with ICD-10 code ➔ Diagnosis &amp; Rx items committed.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TC-05: Inpatient bed allocation ➔ Bed status updated to Occupied.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035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303520" cy="1097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69880" y="1810512"/>
            <a:ext cx="8229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BLOCKED 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10512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Integrity Constraint Tests (Active Defense)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TC-06: Overlapping appointment for Doctor 1 ➔ INTEGRITY ERROR raised &amp; blocked.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TC-07: Double-booking active Bed 1 ➔ BED ALLOCATION REJECTION blocked.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TC-08: Discharge date prior to admission ➔ CHECK constraint failed &amp; blocked.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TC-09: Payment amount exceeding net bill ➔ CHECK constraint failed &amp; blocked.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TC-10: Negative consultation fee ➔ CHECK constraint failed &amp; blocked.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9184"/>
          </a:xfrm>
          <a:prstGeom prst="roundRect">
            <a:avLst/>
          </a:prstGeom>
          <a:solidFill>
            <a:srgbClr val="14B8A6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1329"/>
                </a:solidFill>
              </a:defRPr>
            </a:pPr>
            <a:r>
              <a:t>DELIVERABLE 3 •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Summary &amp; Evaluation Readiness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Complete delivery of all Review 3 University PBL guidelines (5/5 Marks Ready)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11E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399" y="1810512"/>
            <a:ext cx="82296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Delivered Project Assets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Working Prototype: Full Python web app and CLI mode (app.py).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Production Relational DB: 3NF schema with triggers and sample data.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Comprehensive Report: Full PBL dossier with ER, 3NF proofs, and SQL.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Output Screens &amp; Test Logs: Complete walkthrough and screenshots.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11E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822960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VIVA PREP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Viva-Voce Readiness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3NF Normalization: Mathematical proofs and functional dependency sets.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ACID &amp; Transactions: Rollback recovery and concurrency management.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Indexing Strategy: B-Tree performance on foreign keys and lookups.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Security &amp; Views: Data encapsulation and role-based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11E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0" y="1810512"/>
            <a:ext cx="8229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10512"/>
            <a:ext cx="23774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Live Demonstration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1. Real-time patient intake and search.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2. Overlap appointment collision prevention test.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3. Live clinical consultation and ICD-10 entry.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4. Bed allocation and single-patient lock demo.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5. Instant 5-view reporting and SQL sandbox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