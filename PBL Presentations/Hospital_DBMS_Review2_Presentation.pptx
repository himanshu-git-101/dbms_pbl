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2 Title: We present our complete 3NF normalization, DDL triggers, 5 production views, and database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1NF removed repeating medication arrays. 2NF removed partial dependencies. 3NF removed transitive dependencies between doctor-dept and bed-ward.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Data dictionary categorized by Outpatient, Clinical Diagnostics, and Inpatient Billing with explicit key and domain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Demonstrates our 4 critical business rules enforced via triggers and checks: no overlaps, single bed occupancy, valid dates, and payment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Explains multi-table joins across up to 6 tables and subqueries for benchmarks and caseloads.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Highlights analytical aggregations: recovery rates, ICD-10 morbidity statistics, and bed census yield.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Explains our 5 production views: patient history, doctor schedules, pending tests, bed occupancy, and outstanding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Summary of Review 2 completion and transition to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DBMS PBL • REVIEW 2 (WEEK 11 — 5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Hospital Appointment &amp;</a:t>
            </a:r>
            <a:br/>
            <a:r>
              <a:t>Patient Care Management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3NF Relational Normalization, DDL Integrity Triggers, 5 Analytical Views &amp; Prototype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3NF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ZERO REDUNDANCY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Decomposed without partial or transitive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</a:defRPr>
            </a:pPr>
            <a:r>
              <a:t>16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NORMALIZED TABLES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Cleanly divided into Outpatient, Clinical, and Inpatient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11D48"/>
                </a:solidFill>
              </a:defRPr>
            </a:pPr>
            <a:r>
              <a:t>4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INTEGRITY TRIGGERS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No slot overlap, 1 active bed, valid dates, payment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5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PRODUCTION VIEWS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Abstracted queries for history, roster, labs, beds &amp; bills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1 •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Relational Normalization Pipeline (1NF ➔ 2NF ➔ 3NF)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Systematic elimination of insertion, update, and deletion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01 • First Normal Form (1NF)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Atomic Domains: Indivisible scalar values in every column.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Repeating Groups Extracted: Prescription lines moved to prescription_items.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Diagnostics Decomposed: Multi-test orders separated into test_orders.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Primary Keys: Surrogate keys guarantee absolute tuple uniqueness.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02 • Second Normal Form (2NF)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1NF Satisfied + Zero Partial Functional Dependencies.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Candidate Key Separation: Every non-prime attribute depends on WHOLE key.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Catalog Isolation: standard_cost isolated from clinical test results.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Prescription Isolation: Advice isolated from medicine quantities.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03 • Third Normal Form (3NF)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2NF Satisfied + Zero Transitive Dependencies (X ➔ Y, Y ➔ Z).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Doctor &amp; Dept Split: doctor_id ➔ dept_id; dept_id ➔ dept_name/floor.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Ward &amp; Bed Split: bed_id ➔ ward_id; ward_id ➔ capacity/ward_type.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Strict Determinants: All functional determinants are Superkeys.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1 •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Structured Relational Data Dictionary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Metadata definition covering primary keys, foreign keys, and domain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Outpatient &amp; Scheduling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departments: dept_id [PK], dept_name [UQ], floor [CHK &gt;= 0]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doctors: doctor_id [PK], dept_id [FK], fee [CHK &gt;= 0], phone [UQ]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doctor_schedules: schedule_id [PK], [CHK end_time &gt; start_time]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patients: patient_id [PK], phone [UQ], dob [DATE], gender [CHK]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appointments: appointment_id [PK], [UQ(doctor_id, date, start_time)]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Clinical &amp; Diagnostics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consultations: consultation_id [PK], appointment_id [FK UQ 1:1]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diagnoses: diagnosis_id [PK], icd10_code, severity [CHK In MILD..CRITICAL]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prescriptions: prescription_id [PK], consultation_id [FK], date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prescription_items: item_id [PK], medicine, dosage, qty [CHK &gt; 0]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lab_tests: test_id [PK], test_code [UQ], standard_cost [CHK &gt;= 0]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test_orders: order_id [PK], status [CHK In ORDERED..COMPLETED]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Inpatient &amp; Billing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wards: ward_id [PK], ward_name [UQ], ward_type [CHK], capacity [&gt; 0]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beds: bed_id [PK], ward_id [FK], bed_number, daily_rate [CHK &gt;= 0]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admissions: admission_id [PK], [CHK discharge_date &gt;= admission_date]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bills: bill_id [PK], [CHK paid &lt;= net], [CHK net = total - disc + tax]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payments: payment_id [PK], amount_paid [CHK &gt; 0], method [CHK]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2 • INTEGRITY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Enforcing Critical Hospital Business Rules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Automated schema-level constraints and triggers preventing operational collisions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83479" y="1810512"/>
            <a:ext cx="8229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160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1. No Overlapping Appointments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Constraint: UNIQUE (doctor_id, appointment_date, start_time)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Trigger: trg_prevent_appointment_overlap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Logic: Aborts if (NEW.start &lt; end AND NEW.end &gt; start)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Double-booking doctor time is mathematically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160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2. One Active Patient Per Bed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Trigger: trg_prevent_bed_double_booking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Index: UNIQUE (bed_id) WHERE status = 'ACTIVE'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Logic: Aborts admission if bed currently houses active inpatient.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Completely eliminates dual-occupancy bed disputes.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5780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79" y="4142231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42231"/>
            <a:ext cx="4160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3. Valid Admission Dates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Constraint: CHECK (discharge_date IS NULL OR discharge &gt;= admission)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Temporal Guard: Disallow discharge timestamp earlier than intake.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Status Consistency: Active = NULL; Discharged = Valid timestamp.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Protects chronological inpatient length of stay.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25780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4160" y="4142231"/>
            <a:ext cx="8229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142231"/>
            <a:ext cx="4160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Positive Charges &amp; Limits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Positive Checks: total_amount &gt;= 0, amount_paid &gt; 0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Payment Ceiling: CHECK (paid_amount &lt;= net_payable)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Trigger: trg_update_bill_on_payment auto-updates paid &amp; PAID status.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Eliminates overpayments and negative balances.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3 • SQL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Advanced Relational Queries: Joins &amp; Subqueries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Executing complex multi-table joins and nested analytical queries on clinical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JOINS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Multi-Table Joins (5 to 6 Tables)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 Clinical Journey (5 Tables): Connects patients ➔ appointments ➔ doctors ➔ consultations ➔ diagnoses into a single longitudinal timeline.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Inpatient Ward Census (6 Tables): Joins admissions ➔ patients ➔ beds ➔ wards ➔ doctors ➔ departments with days-admitted calculation.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Diagnostic Order Tracker (4 Tables): Joins test orders ➔ lab catalog ➔ consultations ➔ clinicians with turnaround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3035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988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Scalar &amp; Correlated Subqueries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Above-Average Billing Query: Uses scalar subquery (SELECT AVG(net_payable) FROM bills) in HAVING clause to isolate high-utilization patients.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Departmental Top Caseload: Correlated subquery identifying the busiest physician within each medical division.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Available Bed Finder: Uses WHERE bed_id NOT IN (SELECT bed_id FROM admissions WHERE status='ACTIVE').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3 •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SQL Aggregations &amp; Hospital Analytical KPIs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Aggregations with GROUP BY and HAVING calculating operational and financial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Department Revenue Yield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Aggregates encounters, gross billed amount, and receipts per department.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Formula: (SUM(paid_amount) / SUM(net_payable)) * 100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Highlights top earners (Cardiology &amp; Surgery) and unpaid receivables.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Uses GROUP BY dept_id ORDER BY revenue DESC.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MORBIDITY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ICD-10 Morbidity Statistics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Groups diagnostic encounters by ICD-10 disease classifications.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Prevalence %: (COUNT(diag_id) * 100.0 / Total Diagnoses)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Identifies high-incidence conditions (Unstable Angina, Diabetes Type 2).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Assists hospital epidemiological resource 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CENSUS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Ward Occupancy Census Rate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Compares licensed capacity vs operational beds and active inpatients.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Occupancy %: (Active Inpatients * 100.0) / Operational Beds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Projected Daily Bed Revenue = SUM(daily_rate for active patients).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Instant alert on high-density units (ICU, Pediatrics).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3 • DATABASE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5 Production Analytical Database Views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Abstracted, compiled SQL views delivering instantaneous role-tailored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view_patient_history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Longitudinal Clinical Summary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Consolidates visits, doctors, symptoms, primary diagnoses, and count of medications &amp; tests.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Instant single-patient lookup with WHERE patient_id = :id.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view_doctor_schedules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Clinician Shift &amp; Slot Roster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Shows shift hours, slot durations, daily capacity, and currently booked vs free slots.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Powers front-desk appointment scheduling.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view_pending_tests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Laboratory Worklist &amp; Alerts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Filters tests in ORDERED or PROCESSING state with turnaround hour monitoring.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Eliminates diagnostic bottlenecks.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4600" y="402336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83479" y="418795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187952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view_bed_occupancy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Inpatient Bed Census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Calculates operational capacity, active occupants, vacancy, and occupancy rate %.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Critical for emergency bed management.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02336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4023360"/>
            <a:ext cx="3474720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0" y="4187952"/>
            <a:ext cx="8229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187952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view_outstanding_bills_revenue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Financial Accounts Ledger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Tracks inpatient vs outpatient invoices, total billed, paid receipts, and pending debt.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Highlights unpaid receivables for cashier.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14B8A6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1329"/>
                </a:solidFill>
              </a:defRPr>
            </a:pPr>
            <a:r>
              <a:t>DELIVERABLE 4 • EVALUATION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Implementation Progress &amp; Prototype Demo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Milestone achievements, database execution verification, and readiness for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Review 2 Milestones (5/5)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3NF Relational Schema: 16 tables fully normalized.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Integrity Triggers: Overlap, bed collision &amp; payment checks verified.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Relational Dataset: 15 patients, 12 doctors, 25 beds, 12 bills.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Query Suite: 14/14 queries executed with 100% test pass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Prototype Demonstration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Dual Modes: Interactive Web dashboard and Terminal CLI.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Live Collision Interception: Rejects double-booking live.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One-Click Views: Instant execution of all 5 database views.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SQL Console: In-browser SQL query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Roadmap to Review 3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Full Clinical GUI: Complete CRUD for intake, consultation, beds.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Discharge Workflows: Summary archiving and automatic bed release.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Comprehensive Report: University PBL dossier &amp; viva preparation.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Final University Evaluation: Ready for Week 16 5/5 marks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