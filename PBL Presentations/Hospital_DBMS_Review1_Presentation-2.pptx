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evaluators. Today we present Review 1 for Project 03: Design and Implementation of a Database Management System for Hospital Appointment and Patient Care Management System. We cover problem identification, system boundaries, our classical Chen ER diagram, our 3NF relational schema across three clear domains, and database integrity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Hospitals manage appointments, consultations, prescriptions, lab tests, admissions, beds, and billing. Disconnected records create schedule conflicts and incomplete patient histories. Our objectives are to centralize these operations, enforce business rules directly at the schema level, and normalize the schema to 3NF.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demarcated clear functional boundaries: in-scope modules cover outpatient care, clinical encounters, diagnostics, bed admissions, and billing. Duties are separated across 6 distinct user roles to maintain HIPAA-inspired patient privacy and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complete Conceptual ER Diagram structured in Classical Chen Notation. Green rectangles represent Entities; Pink diamonds represent Relationships with 1 and M cardinalities; Blue ovals represent Attributes, with Primary Keys Underlined and Foreign Keys marked (FK). It covers all 13 required entities: Patient, Doctor, Department, Schedule, Appointment, Consultation, Diagnosis, Prescription, LabTest, Admission, Bed, Bill, and Payment, plus normalized child entities.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details the Outpatient and Scheduling Domain. Notice how departments, doctors, and doctor schedules link seamlessly. Most importantly, the appointments table enforces a composite UNIQUE constraint on doctor_id, appointment_date, and start_time, mathematically preventing any doctor double-booking.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details Clinical Care and Diagnostics. To adhere strictly to 3NF, multi-valued medication lines are decomposed into prescription_items, and lab tests are resolved through the test_orders bridge table. Every consultation links back to an appointment via a UNIQUE foreign key.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details Inpatient Wards, Beds, and Financials. Admissions enforces two major rules: discharge_date &gt;= admission_date, and a PostgreSQL partial unique index guaranteeing only ONE active patient per bed. The bills table consolidates room charges, doctor consultations, and lab tests into a single verifiable invoice.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brief explicitly emphasizes four business rules: no overlapping doctor appointments, one active patient per bed, valid admission/discharge dates, and positive charges with payment limits. We enforce all four directly at the database DDL level via UNIQUE constraints, partial indexes, and CHECK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all deliverables for Review 1 are fulfilled: the problem analysis, 13-entity Chen ER diagram, and 3NF schema with integrity rules are complete. Our roadmap progresses to Review 2 in Week 11 for database implementation, views, and triggers, culminating in the final application demo in Week 14.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3474720" cy="38404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PROJECT 03 • DBMS PBL • REVIEW 1</a:t>
            </a:r>
          </a:p>
        </p:txBody>
      </p:sp>
      <p:sp>
        <p:nvSpPr>
          <p:cNvPr id="4" name="TextBox 3"/>
          <p:cNvSpPr txBox="1"/>
          <p:nvPr/>
        </p:nvSpPr>
        <p:spPr>
          <a:xfrm>
            <a:off x="914400" y="1463040"/>
            <a:ext cx="10332720" cy="2011680"/>
          </a:xfrm>
          <a:prstGeom prst="rect">
            <a:avLst/>
          </a:prstGeom>
          <a:noFill/>
        </p:spPr>
        <p:txBody>
          <a:bodyPr wrap="square">
            <a:spAutoFit/>
          </a:bodyPr>
          <a:lstStyle/>
          <a:p>
            <a:pPr>
              <a:defRPr sz="3600" b="1">
                <a:solidFill>
                  <a:srgbClr val="FFFFFF"/>
                </a:solidFill>
              </a:defRPr>
            </a:pPr>
            <a:r>
              <a:t>Hospital Appointment &amp; Patient Care</a:t>
            </a:r>
            <a:br/>
            <a:r>
              <a:t>Management System</a:t>
            </a:r>
          </a:p>
          <a:p>
            <a:pPr>
              <a:spcBef>
                <a:spcPts val="1200"/>
              </a:spcBef>
              <a:defRPr sz="1600">
                <a:solidFill>
                  <a:srgbClr val="38BDF8"/>
                </a:solidFill>
              </a:defRPr>
            </a:pPr>
            <a:r>
              <a:t>Conceptual Design, Chen ER Architecture &amp; 3NF Relational Schema</a:t>
            </a:r>
          </a:p>
        </p:txBody>
      </p:sp>
      <p:sp>
        <p:nvSpPr>
          <p:cNvPr id="5" name="Rounded Rectangle 4"/>
          <p:cNvSpPr/>
          <p:nvPr/>
        </p:nvSpPr>
        <p:spPr>
          <a:xfrm>
            <a:off x="914400" y="3840480"/>
            <a:ext cx="3246120" cy="1645920"/>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977639"/>
            <a:ext cx="2880360" cy="1371600"/>
          </a:xfrm>
          <a:prstGeom prst="rect">
            <a:avLst/>
          </a:prstGeom>
          <a:noFill/>
        </p:spPr>
        <p:txBody>
          <a:bodyPr wrap="square">
            <a:spAutoFit/>
          </a:bodyPr>
          <a:lstStyle/>
          <a:p>
            <a:pPr>
              <a:defRPr sz="1300" b="1">
                <a:solidFill>
                  <a:srgbClr val="0284C7"/>
                </a:solidFill>
              </a:defRPr>
            </a:pPr>
            <a:r>
              <a:t>13 CORE ENTITIES</a:t>
            </a:r>
          </a:p>
          <a:p>
            <a:pPr>
              <a:spcBef>
                <a:spcPts val="600"/>
              </a:spcBef>
              <a:defRPr sz="1100">
                <a:solidFill>
                  <a:srgbClr val="CBD5E1"/>
                </a:solidFill>
              </a:defRPr>
            </a:pPr>
            <a:r>
              <a:t>Patients, Doctors, Appointments, Beds, Billing &amp; Care</a:t>
            </a:r>
          </a:p>
        </p:txBody>
      </p:sp>
      <p:sp>
        <p:nvSpPr>
          <p:cNvPr id="7" name="Rounded Rectangle 6"/>
          <p:cNvSpPr/>
          <p:nvPr/>
        </p:nvSpPr>
        <p:spPr>
          <a:xfrm>
            <a:off x="4462272" y="3840480"/>
            <a:ext cx="3246120" cy="1645920"/>
          </a:xfrm>
          <a:prstGeom prst="roundRect">
            <a:avLst/>
          </a:prstGeom>
          <a:solidFill>
            <a:srgbClr val="0F172A"/>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5152" y="3977639"/>
            <a:ext cx="2880360" cy="1371600"/>
          </a:xfrm>
          <a:prstGeom prst="rect">
            <a:avLst/>
          </a:prstGeom>
          <a:noFill/>
        </p:spPr>
        <p:txBody>
          <a:bodyPr wrap="square">
            <a:spAutoFit/>
          </a:bodyPr>
          <a:lstStyle/>
          <a:p>
            <a:pPr>
              <a:defRPr sz="1300" b="1">
                <a:solidFill>
                  <a:srgbClr val="7C3AED"/>
                </a:solidFill>
              </a:defRPr>
            </a:pPr>
            <a:r>
              <a:t>3NF RELATIONAL SCHEMA</a:t>
            </a:r>
          </a:p>
          <a:p>
            <a:pPr>
              <a:spcBef>
                <a:spcPts val="600"/>
              </a:spcBef>
              <a:defRPr sz="1100">
                <a:solidFill>
                  <a:srgbClr val="CBD5E1"/>
                </a:solidFill>
              </a:defRPr>
            </a:pPr>
            <a:r>
              <a:t>16 Normalized tables with zero functional redundancy</a:t>
            </a:r>
          </a:p>
        </p:txBody>
      </p:sp>
      <p:sp>
        <p:nvSpPr>
          <p:cNvPr id="9" name="Rounded Rectangle 8"/>
          <p:cNvSpPr/>
          <p:nvPr/>
        </p:nvSpPr>
        <p:spPr>
          <a:xfrm>
            <a:off x="8010144" y="3840480"/>
            <a:ext cx="3246120" cy="1645920"/>
          </a:xfrm>
          <a:prstGeom prst="round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3" y="3977639"/>
            <a:ext cx="2880360" cy="1371600"/>
          </a:xfrm>
          <a:prstGeom prst="rect">
            <a:avLst/>
          </a:prstGeom>
          <a:noFill/>
        </p:spPr>
        <p:txBody>
          <a:bodyPr wrap="square">
            <a:spAutoFit/>
          </a:bodyPr>
          <a:lstStyle/>
          <a:p>
            <a:pPr>
              <a:defRPr sz="1300" b="1">
                <a:solidFill>
                  <a:srgbClr val="0D9488"/>
                </a:solidFill>
              </a:defRPr>
            </a:pPr>
            <a:r>
              <a:t>SCHEMA-LEVEL INTEGRITY</a:t>
            </a:r>
          </a:p>
          <a:p>
            <a:pPr>
              <a:spcBef>
                <a:spcPts val="600"/>
              </a:spcBef>
              <a:defRPr sz="1100">
                <a:solidFill>
                  <a:srgbClr val="CBD5E1"/>
                </a:solidFill>
              </a:defRPr>
            </a:pPr>
            <a:r>
              <a:t>No double bookings, 1 patient/bed, valid billing limits</a:t>
            </a:r>
          </a:p>
        </p:txBody>
      </p:sp>
      <p:sp>
        <p:nvSpPr>
          <p:cNvPr id="11" name="TextBox 10"/>
          <p:cNvSpPr txBox="1"/>
          <p:nvPr/>
        </p:nvSpPr>
        <p:spPr>
          <a:xfrm>
            <a:off x="914400" y="5943600"/>
            <a:ext cx="10332720" cy="457200"/>
          </a:xfrm>
          <a:prstGeom prst="rect">
            <a:avLst/>
          </a:prstGeom>
          <a:noFill/>
        </p:spPr>
        <p:txBody>
          <a:bodyPr wrap="none">
            <a:spAutoFit/>
          </a:bodyPr>
          <a:lstStyle/>
          <a:p>
            <a:pPr>
              <a:defRPr sz="1100">
                <a:solidFill>
                  <a:srgbClr val="94A3B8"/>
                </a:solidFill>
              </a:defRPr>
            </a:pPr>
            <a:r>
              <a:t>Evaluator Milestone: Week 7 (5 Marks)  •  Designed for MySQL / PostgreSQL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9184"/>
          </a:xfrm>
          <a:prstGeom prst="roundRect">
            <a:avLst/>
          </a:prstGeom>
          <a:solidFill>
            <a:srgbClr val="E6FFF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D9488"/>
                </a:solidFill>
              </a:defRPr>
            </a:pPr>
            <a:r>
              <a:t>CONTEXT &amp; GOALS</a:t>
            </a:r>
          </a:p>
        </p:txBody>
      </p:sp>
      <p:sp>
        <p:nvSpPr>
          <p:cNvPr id="4" name="TextBox 3"/>
          <p:cNvSpPr txBox="1"/>
          <p:nvPr/>
        </p:nvSpPr>
        <p:spPr>
          <a:xfrm>
            <a:off x="731520" y="685800"/>
            <a:ext cx="10698480" cy="685800"/>
          </a:xfrm>
          <a:prstGeom prst="rect">
            <a:avLst/>
          </a:prstGeom>
          <a:noFill/>
        </p:spPr>
        <p:txBody>
          <a:bodyPr wrap="square">
            <a:spAutoFit/>
          </a:bodyPr>
          <a:lstStyle/>
          <a:p>
            <a:pPr>
              <a:defRPr sz="2300" b="1">
                <a:solidFill>
                  <a:srgbClr val="0F172A"/>
                </a:solidFill>
                <a:latin typeface="Arial"/>
              </a:defRPr>
            </a:pPr>
            <a:r>
              <a:t>Problem Statement &amp; Project Objectives</a:t>
            </a:r>
          </a:p>
          <a:p>
            <a:pPr>
              <a:spcBef>
                <a:spcPts val="200"/>
              </a:spcBef>
              <a:defRPr sz="1200">
                <a:solidFill>
                  <a:srgbClr val="64748B"/>
                </a:solidFill>
              </a:defRPr>
            </a:pPr>
            <a:r>
              <a:t>Solving operational chaos in disconnected hospital management systems</a:t>
            </a:r>
          </a:p>
        </p:txBody>
      </p:sp>
      <p:sp>
        <p:nvSpPr>
          <p:cNvPr id="5" name="Rounded Rectangle 4"/>
          <p:cNvSpPr/>
          <p:nvPr/>
        </p:nvSpPr>
        <p:spPr>
          <a:xfrm>
            <a:off x="731520" y="1645920"/>
            <a:ext cx="5212080" cy="45720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109728"/>
          </a:xfrm>
          <a:prstGeom prst="round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10512"/>
            <a:ext cx="4754880" cy="4297680"/>
          </a:xfrm>
          <a:prstGeom prst="rect">
            <a:avLst/>
          </a:prstGeom>
          <a:noFill/>
        </p:spPr>
        <p:txBody>
          <a:bodyPr wrap="square">
            <a:spAutoFit/>
          </a:bodyPr>
          <a:lstStyle/>
          <a:p>
            <a:pPr>
              <a:defRPr sz="1500" b="1">
                <a:solidFill>
                  <a:srgbClr val="DB2777"/>
                </a:solidFill>
              </a:defRPr>
            </a:pPr>
            <a:r>
              <a:t>The Core Problem: Disconnected Silos</a:t>
            </a:r>
          </a:p>
          <a:p>
            <a:pPr>
              <a:spcBef>
                <a:spcPts val="700"/>
              </a:spcBef>
              <a:defRPr sz="1250">
                <a:solidFill>
                  <a:srgbClr val="334155"/>
                </a:solidFill>
              </a:defRPr>
            </a:pPr>
            <a:r>
              <a:t>•  Schedule Collisions: Doctors double-booked for the same time slot causing severe patient wait times.</a:t>
            </a:r>
          </a:p>
          <a:p>
            <a:pPr>
              <a:spcBef>
                <a:spcPts val="700"/>
              </a:spcBef>
              <a:defRPr sz="1250">
                <a:solidFill>
                  <a:srgbClr val="334155"/>
                </a:solidFill>
              </a:defRPr>
            </a:pPr>
            <a:r>
              <a:t>•  Fragmented Records: Medical history, prescriptions, and lab reports scattered across departmental logs.</a:t>
            </a:r>
          </a:p>
          <a:p>
            <a:pPr>
              <a:spcBef>
                <a:spcPts val="700"/>
              </a:spcBef>
              <a:defRPr sz="1250">
                <a:solidFill>
                  <a:srgbClr val="334155"/>
                </a:solidFill>
              </a:defRPr>
            </a:pPr>
            <a:r>
              <a:t>•  Bed Allocation Conflicts: No real-time synchronization between patient discharge and ward occupancy.</a:t>
            </a:r>
          </a:p>
          <a:p>
            <a:pPr>
              <a:spcBef>
                <a:spcPts val="700"/>
              </a:spcBef>
              <a:defRPr sz="1250">
                <a:solidFill>
                  <a:srgbClr val="334155"/>
                </a:solidFill>
              </a:defRPr>
            </a:pPr>
            <a:r>
              <a:t>•  Financial Billing Leakage: Incomplete billing failing to consolidate room charges, tests, and pharmacy.</a:t>
            </a:r>
          </a:p>
        </p:txBody>
      </p:sp>
      <p:sp>
        <p:nvSpPr>
          <p:cNvPr id="8" name="Rounded Rectangle 7"/>
          <p:cNvSpPr/>
          <p:nvPr/>
        </p:nvSpPr>
        <p:spPr>
          <a:xfrm>
            <a:off x="6217920" y="1645920"/>
            <a:ext cx="5212080" cy="45720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645920"/>
            <a:ext cx="5212080" cy="10972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10512"/>
            <a:ext cx="4754880" cy="4297680"/>
          </a:xfrm>
          <a:prstGeom prst="rect">
            <a:avLst/>
          </a:prstGeom>
          <a:noFill/>
        </p:spPr>
        <p:txBody>
          <a:bodyPr wrap="square">
            <a:spAutoFit/>
          </a:bodyPr>
          <a:lstStyle/>
          <a:p>
            <a:pPr>
              <a:defRPr sz="1500" b="1">
                <a:solidFill>
                  <a:srgbClr val="0D9488"/>
                </a:solidFill>
              </a:defRPr>
            </a:pPr>
            <a:r>
              <a:t>The Project Objectives</a:t>
            </a:r>
          </a:p>
          <a:p>
            <a:pPr>
              <a:spcBef>
                <a:spcPts val="700"/>
              </a:spcBef>
              <a:defRPr sz="1250">
                <a:solidFill>
                  <a:srgbClr val="334155"/>
                </a:solidFill>
              </a:defRPr>
            </a:pPr>
            <a:r>
              <a:t>•  Centralize Records: Unify all 13 clinical and administrative entities into a single relational DBMS.</a:t>
            </a:r>
          </a:p>
          <a:p>
            <a:pPr>
              <a:spcBef>
                <a:spcPts val="700"/>
              </a:spcBef>
              <a:defRPr sz="1250">
                <a:solidFill>
                  <a:srgbClr val="334155"/>
                </a:solidFill>
              </a:defRPr>
            </a:pPr>
            <a:r>
              <a:t>•  Enforce Schema Rules: Guarantee zero appointment overlaps and one-patient-per-bed at DDL level.</a:t>
            </a:r>
          </a:p>
          <a:p>
            <a:pPr>
              <a:spcBef>
                <a:spcPts val="700"/>
              </a:spcBef>
              <a:defRPr sz="1250">
                <a:solidFill>
                  <a:srgbClr val="334155"/>
                </a:solidFill>
              </a:defRPr>
            </a:pPr>
            <a:r>
              <a:t>•  Normalize to 3NF: Eliminate insert, update, and deletion anomalies while ensuring lossless joins.</a:t>
            </a:r>
          </a:p>
          <a:p>
            <a:pPr>
              <a:spcBef>
                <a:spcPts val="700"/>
              </a:spcBef>
              <a:defRPr sz="1250">
                <a:solidFill>
                  <a:srgbClr val="334155"/>
                </a:solidFill>
              </a:defRPr>
            </a:pPr>
            <a:r>
              <a:t>•  End-to-End Workflow: Integrate outpatient booking, consultations, admissions, and consolidated billing.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9184"/>
          </a:xfrm>
          <a:prstGeom prst="roundRect">
            <a:avLst/>
          </a:prstGeom>
          <a:solidFill>
            <a:srgbClr val="E6FFF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D9488"/>
                </a:solidFill>
              </a:defRPr>
            </a:pPr>
            <a:r>
              <a:t>SYSTEM BOUNDARIES &amp; RBAC</a:t>
            </a:r>
          </a:p>
        </p:txBody>
      </p:sp>
      <p:sp>
        <p:nvSpPr>
          <p:cNvPr id="4" name="TextBox 3"/>
          <p:cNvSpPr txBox="1"/>
          <p:nvPr/>
        </p:nvSpPr>
        <p:spPr>
          <a:xfrm>
            <a:off x="731520" y="685800"/>
            <a:ext cx="10698480" cy="685800"/>
          </a:xfrm>
          <a:prstGeom prst="rect">
            <a:avLst/>
          </a:prstGeom>
          <a:noFill/>
        </p:spPr>
        <p:txBody>
          <a:bodyPr wrap="square">
            <a:spAutoFit/>
          </a:bodyPr>
          <a:lstStyle/>
          <a:p>
            <a:pPr>
              <a:defRPr sz="2300" b="1">
                <a:solidFill>
                  <a:srgbClr val="0F172A"/>
                </a:solidFill>
                <a:latin typeface="Arial"/>
              </a:defRPr>
            </a:pPr>
            <a:r>
              <a:t>System Scope &amp; Target Users</a:t>
            </a:r>
          </a:p>
          <a:p>
            <a:pPr>
              <a:spcBef>
                <a:spcPts val="200"/>
              </a:spcBef>
              <a:defRPr sz="1200">
                <a:solidFill>
                  <a:srgbClr val="64748B"/>
                </a:solidFill>
              </a:defRPr>
            </a:pPr>
            <a:r>
              <a:t>Clear functional boundaries and role-based access control (RBAC)</a:t>
            </a:r>
          </a:p>
        </p:txBody>
      </p:sp>
      <p:sp>
        <p:nvSpPr>
          <p:cNvPr id="5" name="Rounded Rectangle 4"/>
          <p:cNvSpPr/>
          <p:nvPr/>
        </p:nvSpPr>
        <p:spPr>
          <a:xfrm>
            <a:off x="731520" y="1645920"/>
            <a:ext cx="5212080" cy="45720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10972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10512"/>
            <a:ext cx="4754880" cy="4297680"/>
          </a:xfrm>
          <a:prstGeom prst="rect">
            <a:avLst/>
          </a:prstGeom>
          <a:noFill/>
        </p:spPr>
        <p:txBody>
          <a:bodyPr wrap="square">
            <a:spAutoFit/>
          </a:bodyPr>
          <a:lstStyle/>
          <a:p>
            <a:pPr>
              <a:defRPr sz="1500" b="1">
                <a:solidFill>
                  <a:srgbClr val="0284C7"/>
                </a:solidFill>
              </a:defRPr>
            </a:pPr>
            <a:r>
              <a:t>Functional Scope (In-Scope Modules)</a:t>
            </a:r>
          </a:p>
          <a:p>
            <a:pPr>
              <a:spcBef>
                <a:spcPts val="700"/>
              </a:spcBef>
              <a:defRPr sz="1250">
                <a:solidFill>
                  <a:srgbClr val="334155"/>
                </a:solidFill>
              </a:defRPr>
            </a:pPr>
            <a:r>
              <a:t>•  Patient Demographic &amp; Medical Profiles: Unique IDs, contact, blood group.</a:t>
            </a:r>
          </a:p>
          <a:p>
            <a:pPr>
              <a:spcBef>
                <a:spcPts val="700"/>
              </a:spcBef>
              <a:defRPr sz="1250">
                <a:solidFill>
                  <a:srgbClr val="334155"/>
                </a:solidFill>
              </a:defRPr>
            </a:pPr>
            <a:r>
              <a:t>•  Doctor Rostering &amp; Appointment Engine: Collision-free time slots.</a:t>
            </a:r>
          </a:p>
          <a:p>
            <a:pPr>
              <a:spcBef>
                <a:spcPts val="700"/>
              </a:spcBef>
              <a:defRPr sz="1250">
                <a:solidFill>
                  <a:srgbClr val="334155"/>
                </a:solidFill>
              </a:defRPr>
            </a:pPr>
            <a:r>
              <a:t>•  Clinical Encounters &amp; ICD-10 Coding: Diagnosis and symptom tracking.</a:t>
            </a:r>
          </a:p>
          <a:p>
            <a:pPr>
              <a:spcBef>
                <a:spcPts val="700"/>
              </a:spcBef>
              <a:defRPr sz="1250">
                <a:solidFill>
                  <a:srgbClr val="334155"/>
                </a:solidFill>
              </a:defRPr>
            </a:pPr>
            <a:r>
              <a:t>•  Digital Prescriptions &amp; Lab Investigations: Normalized item catalogs.</a:t>
            </a:r>
          </a:p>
          <a:p>
            <a:pPr>
              <a:spcBef>
                <a:spcPts val="700"/>
              </a:spcBef>
              <a:defRPr sz="1250">
                <a:solidFill>
                  <a:srgbClr val="334155"/>
                </a:solidFill>
              </a:defRPr>
            </a:pPr>
            <a:r>
              <a:t>•  Inpatient Ward &amp; Bed Inventory: Strict 1-active-patient-per-bed constraint.</a:t>
            </a:r>
          </a:p>
          <a:p>
            <a:pPr>
              <a:spcBef>
                <a:spcPts val="700"/>
              </a:spcBef>
              <a:defRPr sz="1250">
                <a:solidFill>
                  <a:srgbClr val="334155"/>
                </a:solidFill>
              </a:defRPr>
            </a:pPr>
            <a:r>
              <a:t>•  Consolidated Invoicing: Total charges, tax, discounts, and payments.</a:t>
            </a:r>
          </a:p>
        </p:txBody>
      </p:sp>
      <p:sp>
        <p:nvSpPr>
          <p:cNvPr id="8" name="Rounded Rectangle 7"/>
          <p:cNvSpPr/>
          <p:nvPr/>
        </p:nvSpPr>
        <p:spPr>
          <a:xfrm>
            <a:off x="6217920" y="1645920"/>
            <a:ext cx="5212080" cy="45720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645920"/>
            <a:ext cx="5212080" cy="10972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10512"/>
            <a:ext cx="4754880" cy="4297680"/>
          </a:xfrm>
          <a:prstGeom prst="rect">
            <a:avLst/>
          </a:prstGeom>
          <a:noFill/>
        </p:spPr>
        <p:txBody>
          <a:bodyPr wrap="square">
            <a:spAutoFit/>
          </a:bodyPr>
          <a:lstStyle/>
          <a:p>
            <a:pPr>
              <a:defRPr sz="1500" b="1">
                <a:solidFill>
                  <a:srgbClr val="7C3AED"/>
                </a:solidFill>
              </a:defRPr>
            </a:pPr>
            <a:r>
              <a:t>Target Users &amp; Access Roles (RBAC)</a:t>
            </a:r>
          </a:p>
          <a:p>
            <a:pPr>
              <a:spcBef>
                <a:spcPts val="700"/>
              </a:spcBef>
              <a:defRPr sz="1250">
                <a:solidFill>
                  <a:srgbClr val="334155"/>
                </a:solidFill>
              </a:defRPr>
            </a:pPr>
            <a:r>
              <a:t>•  Administrator: Configures hospital departments, doctors, wards, and audit logs.</a:t>
            </a:r>
          </a:p>
          <a:p>
            <a:pPr>
              <a:spcBef>
                <a:spcPts val="700"/>
              </a:spcBef>
              <a:defRPr sz="1250">
                <a:solidFill>
                  <a:srgbClr val="334155"/>
                </a:solidFill>
              </a:defRPr>
            </a:pPr>
            <a:r>
              <a:t>•  Doctor / Clinician: Consults patients, logs diagnoses, issues prescriptions &amp; tests.</a:t>
            </a:r>
          </a:p>
          <a:p>
            <a:pPr>
              <a:spcBef>
                <a:spcPts val="700"/>
              </a:spcBef>
              <a:defRPr sz="1250">
                <a:solidFill>
                  <a:srgbClr val="334155"/>
                </a:solidFill>
              </a:defRPr>
            </a:pPr>
            <a:r>
              <a:t>•  Patient: Books appointment slots, accesses personal prescriptions &amp; invoices.</a:t>
            </a:r>
          </a:p>
          <a:p>
            <a:pPr>
              <a:spcBef>
                <a:spcPts val="700"/>
              </a:spcBef>
              <a:defRPr sz="1250">
                <a:solidFill>
                  <a:srgbClr val="334155"/>
                </a:solidFill>
              </a:defRPr>
            </a:pPr>
            <a:r>
              <a:t>•  Receptionist: Registers walk-ins and handles daily appointment check-ins.</a:t>
            </a:r>
          </a:p>
          <a:p>
            <a:pPr>
              <a:spcBef>
                <a:spcPts val="700"/>
              </a:spcBef>
              <a:defRPr sz="1250">
                <a:solidFill>
                  <a:srgbClr val="334155"/>
                </a:solidFill>
              </a:defRPr>
            </a:pPr>
            <a:r>
              <a:t>•  Ward Nurse: Manages inpatient admissions, bed assignments, and discharges.</a:t>
            </a:r>
          </a:p>
          <a:p>
            <a:pPr>
              <a:spcBef>
                <a:spcPts val="700"/>
              </a:spcBef>
              <a:defRPr sz="1250">
                <a:solidFill>
                  <a:srgbClr val="334155"/>
                </a:solidFill>
              </a:defRPr>
            </a:pPr>
            <a:r>
              <a:t>•  Billing Cashier: Generates itemized bills and processes multi-mode payments.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9184"/>
          </a:xfrm>
          <a:prstGeom prst="roundRect">
            <a:avLst/>
          </a:prstGeom>
          <a:solidFill>
            <a:srgbClr val="E6FFF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D9488"/>
                </a:solidFill>
              </a:defRPr>
            </a:pPr>
            <a:r>
              <a:t>DELIVERABLE 2 • CONCEPTUAL DESIGN</a:t>
            </a:r>
          </a:p>
        </p:txBody>
      </p:sp>
      <p:sp>
        <p:nvSpPr>
          <p:cNvPr id="4" name="TextBox 3"/>
          <p:cNvSpPr txBox="1"/>
          <p:nvPr/>
        </p:nvSpPr>
        <p:spPr>
          <a:xfrm>
            <a:off x="731520" y="685800"/>
            <a:ext cx="10698480" cy="685800"/>
          </a:xfrm>
          <a:prstGeom prst="rect">
            <a:avLst/>
          </a:prstGeom>
          <a:noFill/>
        </p:spPr>
        <p:txBody>
          <a:bodyPr wrap="square">
            <a:spAutoFit/>
          </a:bodyPr>
          <a:lstStyle/>
          <a:p>
            <a:pPr>
              <a:defRPr sz="2300" b="1">
                <a:solidFill>
                  <a:srgbClr val="0F172A"/>
                </a:solidFill>
                <a:latin typeface="Arial"/>
              </a:defRPr>
            </a:pPr>
            <a:r>
              <a:t>Conceptual ER Diagram: Classical Chen Notation</a:t>
            </a:r>
          </a:p>
          <a:p>
            <a:pPr>
              <a:spcBef>
                <a:spcPts val="200"/>
              </a:spcBef>
              <a:defRPr sz="1200">
                <a:solidFill>
                  <a:srgbClr val="64748B"/>
                </a:solidFill>
              </a:defRPr>
            </a:pPr>
            <a:r>
              <a:t>Soft Green = Entity  |  Soft Pink = Relationship  |  Soft Blue = Attribute  |  Underlined = PK  |  (FK) = Foreign Key</a:t>
            </a:r>
          </a:p>
        </p:txBody>
      </p:sp>
      <p:pic>
        <p:nvPicPr>
          <p:cNvPr id="5" name="Picture 4" descr="hospital_er_diagram.png"/>
          <p:cNvPicPr>
            <a:picLocks noChangeAspect="1"/>
          </p:cNvPicPr>
          <p:nvPr/>
        </p:nvPicPr>
        <p:blipFill>
          <a:blip r:embed="rId2"/>
          <a:stretch>
            <a:fillRect/>
          </a:stretch>
        </p:blipFill>
        <p:spPr>
          <a:xfrm>
            <a:off x="548640" y="1325880"/>
            <a:ext cx="11094415" cy="51663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9184"/>
          </a:xfrm>
          <a:prstGeom prst="roundRect">
            <a:avLst/>
          </a:prstGeom>
          <a:solidFill>
            <a:srgbClr val="E6FFF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D9488"/>
                </a:solidFill>
              </a:defRPr>
            </a:pPr>
            <a:r>
              <a:t>DELIVERABLE 3 • RELATIONAL SCHEMA (PART 1)</a:t>
            </a:r>
          </a:p>
        </p:txBody>
      </p:sp>
      <p:sp>
        <p:nvSpPr>
          <p:cNvPr id="4" name="TextBox 3"/>
          <p:cNvSpPr txBox="1"/>
          <p:nvPr/>
        </p:nvSpPr>
        <p:spPr>
          <a:xfrm>
            <a:off x="731520" y="685800"/>
            <a:ext cx="10698480" cy="685800"/>
          </a:xfrm>
          <a:prstGeom prst="rect">
            <a:avLst/>
          </a:prstGeom>
          <a:noFill/>
        </p:spPr>
        <p:txBody>
          <a:bodyPr wrap="square">
            <a:spAutoFit/>
          </a:bodyPr>
          <a:lstStyle/>
          <a:p>
            <a:pPr>
              <a:defRPr sz="2300" b="1">
                <a:solidFill>
                  <a:srgbClr val="0F172A"/>
                </a:solidFill>
                <a:latin typeface="Arial"/>
              </a:defRPr>
            </a:pPr>
            <a:r>
              <a:t>Domain 1: Outpatient &amp; Scheduling Tables</a:t>
            </a:r>
          </a:p>
          <a:p>
            <a:pPr>
              <a:spcBef>
                <a:spcPts val="200"/>
              </a:spcBef>
              <a:defRPr sz="1200">
                <a:solidFill>
                  <a:srgbClr val="64748B"/>
                </a:solidFill>
              </a:defRPr>
            </a:pPr>
            <a:r>
              <a:t>Departments, Doctors, Shift Schedules, Patients, and Collision-Free Appointments</a:t>
            </a:r>
          </a:p>
        </p:txBody>
      </p:sp>
      <p:sp>
        <p:nvSpPr>
          <p:cNvPr id="5" name="Rounded Rectangle 4"/>
          <p:cNvSpPr/>
          <p:nvPr/>
        </p:nvSpPr>
        <p:spPr>
          <a:xfrm>
            <a:off x="731520" y="160020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383280"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DEPARTMENTS</a:t>
            </a:r>
          </a:p>
        </p:txBody>
      </p:sp>
      <p:sp>
        <p:nvSpPr>
          <p:cNvPr id="7" name="TextBox 6"/>
          <p:cNvSpPr txBox="1"/>
          <p:nvPr/>
        </p:nvSpPr>
        <p:spPr>
          <a:xfrm>
            <a:off x="868680" y="2075688"/>
            <a:ext cx="3108960" cy="1728216"/>
          </a:xfrm>
          <a:prstGeom prst="rect">
            <a:avLst/>
          </a:prstGeom>
          <a:noFill/>
        </p:spPr>
        <p:txBody>
          <a:bodyPr wrap="square">
            <a:spAutoFit/>
          </a:bodyPr>
          <a:lstStyle/>
          <a:p>
            <a:pPr>
              <a:spcBef>
                <a:spcPts val="200"/>
              </a:spcBef>
              <a:defRPr sz="1150" b="1">
                <a:solidFill>
                  <a:srgbClr val="B45309"/>
                </a:solidFill>
              </a:defRPr>
            </a:pPr>
            <a:r>
              <a:t>🔑 Primary Key : dept_id (SERIAL)</a:t>
            </a:r>
          </a:p>
          <a:p>
            <a:pPr>
              <a:spcBef>
                <a:spcPts val="400"/>
              </a:spcBef>
              <a:defRPr sz="1100" b="1">
                <a:solidFill>
                  <a:srgbClr val="0284C7"/>
                </a:solidFill>
              </a:defRPr>
            </a:pPr>
            <a:r>
              <a:t>🔗 Foreign Keys : head_doctor_id → doctors (NULLABLE)</a:t>
            </a:r>
          </a:p>
          <a:p>
            <a:pPr>
              <a:spcBef>
                <a:spcPts val="400"/>
              </a:spcBef>
              <a:defRPr sz="1100">
                <a:solidFill>
                  <a:srgbClr val="334155"/>
                </a:solidFill>
              </a:defRPr>
            </a:pPr>
            <a:r>
              <a:t>📋 Attributes : dept_name (VARCHAR, UQ), building_block, floor_number</a:t>
            </a:r>
          </a:p>
        </p:txBody>
      </p:sp>
      <p:sp>
        <p:nvSpPr>
          <p:cNvPr id="8" name="Rounded Rectangle 7"/>
          <p:cNvSpPr/>
          <p:nvPr/>
        </p:nvSpPr>
        <p:spPr>
          <a:xfrm>
            <a:off x="4389120" y="160020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600200"/>
            <a:ext cx="3383280"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DOCTORS</a:t>
            </a:r>
          </a:p>
        </p:txBody>
      </p:sp>
      <p:sp>
        <p:nvSpPr>
          <p:cNvPr id="10" name="TextBox 9"/>
          <p:cNvSpPr txBox="1"/>
          <p:nvPr/>
        </p:nvSpPr>
        <p:spPr>
          <a:xfrm>
            <a:off x="4526280" y="2075688"/>
            <a:ext cx="3108960" cy="1728216"/>
          </a:xfrm>
          <a:prstGeom prst="rect">
            <a:avLst/>
          </a:prstGeom>
          <a:noFill/>
        </p:spPr>
        <p:txBody>
          <a:bodyPr wrap="square">
            <a:spAutoFit/>
          </a:bodyPr>
          <a:lstStyle/>
          <a:p>
            <a:pPr>
              <a:spcBef>
                <a:spcPts val="200"/>
              </a:spcBef>
              <a:defRPr sz="1150" b="1">
                <a:solidFill>
                  <a:srgbClr val="B45309"/>
                </a:solidFill>
              </a:defRPr>
            </a:pPr>
            <a:r>
              <a:t>🔑 Primary Key : doctor_id (SERIAL)</a:t>
            </a:r>
          </a:p>
          <a:p>
            <a:pPr>
              <a:spcBef>
                <a:spcPts val="400"/>
              </a:spcBef>
              <a:defRPr sz="1100" b="1">
                <a:solidFill>
                  <a:srgbClr val="0284C7"/>
                </a:solidFill>
              </a:defRPr>
            </a:pPr>
            <a:r>
              <a:t>🔗 Foreign Keys : dept_id → departments</a:t>
            </a:r>
          </a:p>
          <a:p>
            <a:pPr>
              <a:spcBef>
                <a:spcPts val="400"/>
              </a:spcBef>
              <a:defRPr sz="1100">
                <a:solidFill>
                  <a:srgbClr val="334155"/>
                </a:solidFill>
              </a:defRPr>
            </a:pPr>
            <a:r>
              <a:t>📋 Attributes : first_name, last_name, specialization, consultation_fee &gt;= 0, license_no (UQ), phone, email</a:t>
            </a:r>
          </a:p>
        </p:txBody>
      </p:sp>
      <p:sp>
        <p:nvSpPr>
          <p:cNvPr id="11" name="Rounded Rectangle 10"/>
          <p:cNvSpPr/>
          <p:nvPr/>
        </p:nvSpPr>
        <p:spPr>
          <a:xfrm>
            <a:off x="8046720" y="160020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0" y="1600200"/>
            <a:ext cx="3383280"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DOCTOR_SCHEDULES</a:t>
            </a:r>
          </a:p>
        </p:txBody>
      </p:sp>
      <p:sp>
        <p:nvSpPr>
          <p:cNvPr id="13" name="TextBox 12"/>
          <p:cNvSpPr txBox="1"/>
          <p:nvPr/>
        </p:nvSpPr>
        <p:spPr>
          <a:xfrm>
            <a:off x="8183880" y="2075688"/>
            <a:ext cx="3108960" cy="1728216"/>
          </a:xfrm>
          <a:prstGeom prst="rect">
            <a:avLst/>
          </a:prstGeom>
          <a:noFill/>
        </p:spPr>
        <p:txBody>
          <a:bodyPr wrap="square">
            <a:spAutoFit/>
          </a:bodyPr>
          <a:lstStyle/>
          <a:p>
            <a:pPr>
              <a:spcBef>
                <a:spcPts val="200"/>
              </a:spcBef>
              <a:defRPr sz="1150" b="1">
                <a:solidFill>
                  <a:srgbClr val="B45309"/>
                </a:solidFill>
              </a:defRPr>
            </a:pPr>
            <a:r>
              <a:t>🔑 Primary Key : schedule_id (SERIAL)</a:t>
            </a:r>
          </a:p>
          <a:p>
            <a:pPr>
              <a:spcBef>
                <a:spcPts val="400"/>
              </a:spcBef>
              <a:defRPr sz="1100" b="1">
                <a:solidFill>
                  <a:srgbClr val="0284C7"/>
                </a:solidFill>
              </a:defRPr>
            </a:pPr>
            <a:r>
              <a:t>🔗 Foreign Keys : doctor_id → doctors</a:t>
            </a:r>
          </a:p>
          <a:p>
            <a:pPr>
              <a:spcBef>
                <a:spcPts val="400"/>
              </a:spcBef>
              <a:defRPr sz="1100">
                <a:solidFill>
                  <a:srgbClr val="334155"/>
                </a:solidFill>
              </a:defRPr>
            </a:pPr>
            <a:r>
              <a:t>📋 Attributes : day_of_week, start_time, end_time, slot_duration_minutes, max_patients_quota</a:t>
            </a:r>
          </a:p>
          <a:p>
            <a:pPr>
              <a:spcBef>
                <a:spcPts val="400"/>
              </a:spcBef>
              <a:defRPr sz="1050" b="1">
                <a:solidFill>
                  <a:srgbClr val="DB2777"/>
                </a:solidFill>
              </a:defRPr>
            </a:pPr>
            <a:r>
              <a:t>⚡ Constraint : CHECK (end_time &gt; start_time)</a:t>
            </a:r>
          </a:p>
        </p:txBody>
      </p:sp>
      <p:sp>
        <p:nvSpPr>
          <p:cNvPr id="14" name="Rounded Rectangle 13"/>
          <p:cNvSpPr/>
          <p:nvPr/>
        </p:nvSpPr>
        <p:spPr>
          <a:xfrm>
            <a:off x="731520" y="4069080"/>
            <a:ext cx="5212080" cy="22860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4069080"/>
            <a:ext cx="5212080"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PATIENTS</a:t>
            </a:r>
          </a:p>
        </p:txBody>
      </p:sp>
      <p:sp>
        <p:nvSpPr>
          <p:cNvPr id="16" name="TextBox 15"/>
          <p:cNvSpPr txBox="1"/>
          <p:nvPr/>
        </p:nvSpPr>
        <p:spPr>
          <a:xfrm>
            <a:off x="868680" y="4544568"/>
            <a:ext cx="4937760" cy="1773936"/>
          </a:xfrm>
          <a:prstGeom prst="rect">
            <a:avLst/>
          </a:prstGeom>
          <a:noFill/>
        </p:spPr>
        <p:txBody>
          <a:bodyPr wrap="square">
            <a:spAutoFit/>
          </a:bodyPr>
          <a:lstStyle/>
          <a:p>
            <a:pPr>
              <a:spcBef>
                <a:spcPts val="200"/>
              </a:spcBef>
              <a:defRPr sz="1150" b="1">
                <a:solidFill>
                  <a:srgbClr val="B45309"/>
                </a:solidFill>
              </a:defRPr>
            </a:pPr>
            <a:r>
              <a:t>🔑 Primary Key : patient_id (SERIAL)</a:t>
            </a:r>
          </a:p>
          <a:p>
            <a:pPr>
              <a:spcBef>
                <a:spcPts val="400"/>
              </a:spcBef>
              <a:defRPr sz="1100">
                <a:solidFill>
                  <a:srgbClr val="334155"/>
                </a:solidFill>
              </a:defRPr>
            </a:pPr>
            <a:r>
              <a:t>📋 Attributes : first_name, last_name, date_of_birth, gender, blood_group, phone (UQ), email, address, emergency_contact</a:t>
            </a:r>
          </a:p>
          <a:p>
            <a:pPr>
              <a:spcBef>
                <a:spcPts val="400"/>
              </a:spcBef>
              <a:defRPr sz="1050" b="1">
                <a:solidFill>
                  <a:srgbClr val="DB2777"/>
                </a:solidFill>
              </a:defRPr>
            </a:pPr>
            <a:r>
              <a:t>⚡ Constraint : phone &amp; email have UNIQUE index</a:t>
            </a:r>
          </a:p>
        </p:txBody>
      </p:sp>
      <p:sp>
        <p:nvSpPr>
          <p:cNvPr id="17" name="Rounded Rectangle 16"/>
          <p:cNvSpPr/>
          <p:nvPr/>
        </p:nvSpPr>
        <p:spPr>
          <a:xfrm>
            <a:off x="6217920" y="4069080"/>
            <a:ext cx="5212080" cy="22860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4069080"/>
            <a:ext cx="5212080"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APPOINTMENTS</a:t>
            </a:r>
          </a:p>
        </p:txBody>
      </p:sp>
      <p:sp>
        <p:nvSpPr>
          <p:cNvPr id="19" name="TextBox 18"/>
          <p:cNvSpPr txBox="1"/>
          <p:nvPr/>
        </p:nvSpPr>
        <p:spPr>
          <a:xfrm>
            <a:off x="6355080" y="4544568"/>
            <a:ext cx="4937760" cy="1773936"/>
          </a:xfrm>
          <a:prstGeom prst="rect">
            <a:avLst/>
          </a:prstGeom>
          <a:noFill/>
        </p:spPr>
        <p:txBody>
          <a:bodyPr wrap="square">
            <a:spAutoFit/>
          </a:bodyPr>
          <a:lstStyle/>
          <a:p>
            <a:pPr>
              <a:spcBef>
                <a:spcPts val="200"/>
              </a:spcBef>
              <a:defRPr sz="1150" b="1">
                <a:solidFill>
                  <a:srgbClr val="B45309"/>
                </a:solidFill>
              </a:defRPr>
            </a:pPr>
            <a:r>
              <a:t>🔑 Primary Key : appointment_id (SERIAL)</a:t>
            </a:r>
          </a:p>
          <a:p>
            <a:pPr>
              <a:spcBef>
                <a:spcPts val="400"/>
              </a:spcBef>
              <a:defRPr sz="1100" b="1">
                <a:solidFill>
                  <a:srgbClr val="0284C7"/>
                </a:solidFill>
              </a:defRPr>
            </a:pPr>
            <a:r>
              <a:t>🔗 Foreign Keys : patient_id → patients, doctor_id → doctors</a:t>
            </a:r>
          </a:p>
          <a:p>
            <a:pPr>
              <a:spcBef>
                <a:spcPts val="400"/>
              </a:spcBef>
              <a:defRPr sz="1100">
                <a:solidFill>
                  <a:srgbClr val="334155"/>
                </a:solidFill>
              </a:defRPr>
            </a:pPr>
            <a:r>
              <a:t>📋 Attributes : appointment_date, start_time, end_time, status (BOOKED, COMPLETED, CANCELLED), reason</a:t>
            </a:r>
          </a:p>
          <a:p>
            <a:pPr>
              <a:spcBef>
                <a:spcPts val="400"/>
              </a:spcBef>
              <a:defRPr sz="1050" b="1">
                <a:solidFill>
                  <a:srgbClr val="DB2777"/>
                </a:solidFill>
              </a:defRPr>
            </a:pPr>
            <a:r>
              <a:t>⚡ Constraint : CRITICAL: UNIQUE (doctor_id, appointment_date, start_time)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9184"/>
          </a:xfrm>
          <a:prstGeom prst="roundRect">
            <a:avLst/>
          </a:prstGeom>
          <a:solidFill>
            <a:srgbClr val="E6FFF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D9488"/>
                </a:solidFill>
              </a:defRPr>
            </a:pPr>
            <a:r>
              <a:t>DELIVERABLE 3 • RELATIONAL SCHEMA (PART 2)</a:t>
            </a:r>
          </a:p>
        </p:txBody>
      </p:sp>
      <p:sp>
        <p:nvSpPr>
          <p:cNvPr id="4" name="TextBox 3"/>
          <p:cNvSpPr txBox="1"/>
          <p:nvPr/>
        </p:nvSpPr>
        <p:spPr>
          <a:xfrm>
            <a:off x="731520" y="685800"/>
            <a:ext cx="10698480" cy="685800"/>
          </a:xfrm>
          <a:prstGeom prst="rect">
            <a:avLst/>
          </a:prstGeom>
          <a:noFill/>
        </p:spPr>
        <p:txBody>
          <a:bodyPr wrap="square">
            <a:spAutoFit/>
          </a:bodyPr>
          <a:lstStyle/>
          <a:p>
            <a:pPr>
              <a:defRPr sz="2300" b="1">
                <a:solidFill>
                  <a:srgbClr val="0F172A"/>
                </a:solidFill>
                <a:latin typeface="Arial"/>
              </a:defRPr>
            </a:pPr>
            <a:r>
              <a:t>Domain 2: Clinical Encounters &amp; Diagnostics (3NF)</a:t>
            </a:r>
          </a:p>
          <a:p>
            <a:pPr>
              <a:spcBef>
                <a:spcPts val="200"/>
              </a:spcBef>
              <a:defRPr sz="1200">
                <a:solidFill>
                  <a:srgbClr val="64748B"/>
                </a:solidFill>
              </a:defRPr>
            </a:pPr>
            <a:r>
              <a:t>Consultations, ICD-10 Diagnoses, Multi-Item Prescriptions, and Lab Investigations</a:t>
            </a:r>
          </a:p>
        </p:txBody>
      </p:sp>
      <p:sp>
        <p:nvSpPr>
          <p:cNvPr id="5" name="Rounded Rectangle 4"/>
          <p:cNvSpPr/>
          <p:nvPr/>
        </p:nvSpPr>
        <p:spPr>
          <a:xfrm>
            <a:off x="731520" y="160020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383280" cy="43891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CONSULTATIONS</a:t>
            </a:r>
          </a:p>
        </p:txBody>
      </p:sp>
      <p:sp>
        <p:nvSpPr>
          <p:cNvPr id="7" name="TextBox 6"/>
          <p:cNvSpPr txBox="1"/>
          <p:nvPr/>
        </p:nvSpPr>
        <p:spPr>
          <a:xfrm>
            <a:off x="868680" y="2075688"/>
            <a:ext cx="3108960" cy="1728216"/>
          </a:xfrm>
          <a:prstGeom prst="rect">
            <a:avLst/>
          </a:prstGeom>
          <a:noFill/>
        </p:spPr>
        <p:txBody>
          <a:bodyPr wrap="square">
            <a:spAutoFit/>
          </a:bodyPr>
          <a:lstStyle/>
          <a:p>
            <a:pPr>
              <a:spcBef>
                <a:spcPts val="200"/>
              </a:spcBef>
              <a:defRPr sz="1150" b="1">
                <a:solidFill>
                  <a:srgbClr val="B45309"/>
                </a:solidFill>
              </a:defRPr>
            </a:pPr>
            <a:r>
              <a:t>🔑 Primary Key : consultation_id (SERIAL)</a:t>
            </a:r>
          </a:p>
          <a:p>
            <a:pPr>
              <a:spcBef>
                <a:spcPts val="400"/>
              </a:spcBef>
              <a:defRPr sz="1100" b="1">
                <a:solidFill>
                  <a:srgbClr val="0284C7"/>
                </a:solidFill>
              </a:defRPr>
            </a:pPr>
            <a:r>
              <a:t>🔗 Foreign Keys : appointment_id → appointments (UQ), doctor_id → doctors, patient_id → patients</a:t>
            </a:r>
          </a:p>
          <a:p>
            <a:pPr>
              <a:spcBef>
                <a:spcPts val="400"/>
              </a:spcBef>
              <a:defRPr sz="1100">
                <a:solidFill>
                  <a:srgbClr val="334155"/>
                </a:solidFill>
              </a:defRPr>
            </a:pPr>
            <a:r>
              <a:t>📋 Attributes : consultation_date, symptoms, physical_examination, clinical_notes, follow_up_date</a:t>
            </a:r>
          </a:p>
          <a:p>
            <a:pPr>
              <a:spcBef>
                <a:spcPts val="400"/>
              </a:spcBef>
              <a:defRPr sz="1050" b="1">
                <a:solidFill>
                  <a:srgbClr val="DB2777"/>
                </a:solidFill>
              </a:defRPr>
            </a:pPr>
            <a:r>
              <a:t>⚡ Constraint : 1:1 with appointment_id (UQ)</a:t>
            </a:r>
          </a:p>
        </p:txBody>
      </p:sp>
      <p:sp>
        <p:nvSpPr>
          <p:cNvPr id="8" name="Rounded Rectangle 7"/>
          <p:cNvSpPr/>
          <p:nvPr/>
        </p:nvSpPr>
        <p:spPr>
          <a:xfrm>
            <a:off x="4389120" y="160020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600200"/>
            <a:ext cx="3383280" cy="43891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DIAGNOSES</a:t>
            </a:r>
          </a:p>
        </p:txBody>
      </p:sp>
      <p:sp>
        <p:nvSpPr>
          <p:cNvPr id="10" name="TextBox 9"/>
          <p:cNvSpPr txBox="1"/>
          <p:nvPr/>
        </p:nvSpPr>
        <p:spPr>
          <a:xfrm>
            <a:off x="4526280" y="2075688"/>
            <a:ext cx="3108960" cy="1728216"/>
          </a:xfrm>
          <a:prstGeom prst="rect">
            <a:avLst/>
          </a:prstGeom>
          <a:noFill/>
        </p:spPr>
        <p:txBody>
          <a:bodyPr wrap="square">
            <a:spAutoFit/>
          </a:bodyPr>
          <a:lstStyle/>
          <a:p>
            <a:pPr>
              <a:spcBef>
                <a:spcPts val="200"/>
              </a:spcBef>
              <a:defRPr sz="1150" b="1">
                <a:solidFill>
                  <a:srgbClr val="B45309"/>
                </a:solidFill>
              </a:defRPr>
            </a:pPr>
            <a:r>
              <a:t>🔑 Primary Key : diagnosis_id (SERIAL)</a:t>
            </a:r>
          </a:p>
          <a:p>
            <a:pPr>
              <a:spcBef>
                <a:spcPts val="400"/>
              </a:spcBef>
              <a:defRPr sz="1100" b="1">
                <a:solidFill>
                  <a:srgbClr val="0284C7"/>
                </a:solidFill>
              </a:defRPr>
            </a:pPr>
            <a:r>
              <a:t>🔗 Foreign Keys : consultation_id → consultations</a:t>
            </a:r>
          </a:p>
          <a:p>
            <a:pPr>
              <a:spcBef>
                <a:spcPts val="400"/>
              </a:spcBef>
              <a:defRPr sz="1100">
                <a:solidFill>
                  <a:srgbClr val="334155"/>
                </a:solidFill>
              </a:defRPr>
            </a:pPr>
            <a:r>
              <a:t>📋 Attributes : icd10_code, diagnosis_name, severity (MILD, MODERATE, SEVERE, CRITICAL), diagnosis_type (PROVISIONAL, FINAL)</a:t>
            </a:r>
          </a:p>
        </p:txBody>
      </p:sp>
      <p:sp>
        <p:nvSpPr>
          <p:cNvPr id="11" name="Rounded Rectangle 10"/>
          <p:cNvSpPr/>
          <p:nvPr/>
        </p:nvSpPr>
        <p:spPr>
          <a:xfrm>
            <a:off x="8046720" y="160020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0" y="1600200"/>
            <a:ext cx="3383280" cy="43891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LAB_TESTS (CATALOG)</a:t>
            </a:r>
          </a:p>
        </p:txBody>
      </p:sp>
      <p:sp>
        <p:nvSpPr>
          <p:cNvPr id="13" name="TextBox 12"/>
          <p:cNvSpPr txBox="1"/>
          <p:nvPr/>
        </p:nvSpPr>
        <p:spPr>
          <a:xfrm>
            <a:off x="8183880" y="2075688"/>
            <a:ext cx="3108960" cy="1728216"/>
          </a:xfrm>
          <a:prstGeom prst="rect">
            <a:avLst/>
          </a:prstGeom>
          <a:noFill/>
        </p:spPr>
        <p:txBody>
          <a:bodyPr wrap="square">
            <a:spAutoFit/>
          </a:bodyPr>
          <a:lstStyle/>
          <a:p>
            <a:pPr>
              <a:spcBef>
                <a:spcPts val="200"/>
              </a:spcBef>
              <a:defRPr sz="1150" b="1">
                <a:solidFill>
                  <a:srgbClr val="B45309"/>
                </a:solidFill>
              </a:defRPr>
            </a:pPr>
            <a:r>
              <a:t>🔑 Primary Key : test_id (SERIAL)</a:t>
            </a:r>
          </a:p>
          <a:p>
            <a:pPr>
              <a:spcBef>
                <a:spcPts val="400"/>
              </a:spcBef>
              <a:defRPr sz="1100" b="1">
                <a:solidFill>
                  <a:srgbClr val="0284C7"/>
                </a:solidFill>
              </a:defRPr>
            </a:pPr>
            <a:r>
              <a:t>🔗 Foreign Keys : dept_id → departments</a:t>
            </a:r>
          </a:p>
          <a:p>
            <a:pPr>
              <a:spcBef>
                <a:spcPts val="400"/>
              </a:spcBef>
              <a:defRPr sz="1100">
                <a:solidFill>
                  <a:srgbClr val="334155"/>
                </a:solidFill>
              </a:defRPr>
            </a:pPr>
            <a:r>
              <a:t>📋 Attributes : test_name, test_code (UQ), sample_type, standard_cost &gt;= 0, turnaround_hours</a:t>
            </a:r>
          </a:p>
          <a:p>
            <a:pPr>
              <a:spcBef>
                <a:spcPts val="400"/>
              </a:spcBef>
              <a:defRPr sz="1050" b="1">
                <a:solidFill>
                  <a:srgbClr val="DB2777"/>
                </a:solidFill>
              </a:defRPr>
            </a:pPr>
            <a:r>
              <a:t>⚡ Constraint : Standardized clinical diagnostic catalog</a:t>
            </a:r>
          </a:p>
        </p:txBody>
      </p:sp>
      <p:sp>
        <p:nvSpPr>
          <p:cNvPr id="14" name="Rounded Rectangle 13"/>
          <p:cNvSpPr/>
          <p:nvPr/>
        </p:nvSpPr>
        <p:spPr>
          <a:xfrm>
            <a:off x="731520" y="406908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4069080"/>
            <a:ext cx="3383280" cy="43891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PRESCRIPTIONS</a:t>
            </a:r>
          </a:p>
        </p:txBody>
      </p:sp>
      <p:sp>
        <p:nvSpPr>
          <p:cNvPr id="16" name="TextBox 15"/>
          <p:cNvSpPr txBox="1"/>
          <p:nvPr/>
        </p:nvSpPr>
        <p:spPr>
          <a:xfrm>
            <a:off x="868680" y="4544568"/>
            <a:ext cx="3108960" cy="1728216"/>
          </a:xfrm>
          <a:prstGeom prst="rect">
            <a:avLst/>
          </a:prstGeom>
          <a:noFill/>
        </p:spPr>
        <p:txBody>
          <a:bodyPr wrap="square">
            <a:spAutoFit/>
          </a:bodyPr>
          <a:lstStyle/>
          <a:p>
            <a:pPr>
              <a:spcBef>
                <a:spcPts val="200"/>
              </a:spcBef>
              <a:defRPr sz="1150" b="1">
                <a:solidFill>
                  <a:srgbClr val="B45309"/>
                </a:solidFill>
              </a:defRPr>
            </a:pPr>
            <a:r>
              <a:t>🔑 Primary Key : prescription_id (SERIAL)</a:t>
            </a:r>
          </a:p>
          <a:p>
            <a:pPr>
              <a:spcBef>
                <a:spcPts val="400"/>
              </a:spcBef>
              <a:defRPr sz="1100" b="1">
                <a:solidFill>
                  <a:srgbClr val="0284C7"/>
                </a:solidFill>
              </a:defRPr>
            </a:pPr>
            <a:r>
              <a:t>🔗 Foreign Keys : consultation_id → consultations</a:t>
            </a:r>
          </a:p>
          <a:p>
            <a:pPr>
              <a:spcBef>
                <a:spcPts val="400"/>
              </a:spcBef>
              <a:defRPr sz="1100">
                <a:solidFill>
                  <a:srgbClr val="334155"/>
                </a:solidFill>
              </a:defRPr>
            </a:pPr>
            <a:r>
              <a:t>📋 Attributes : prescription_date, general_advice, created_at</a:t>
            </a:r>
          </a:p>
          <a:p>
            <a:pPr>
              <a:spcBef>
                <a:spcPts val="400"/>
              </a:spcBef>
              <a:defRPr sz="1050" b="1">
                <a:solidFill>
                  <a:srgbClr val="DB2777"/>
                </a:solidFill>
              </a:defRPr>
            </a:pPr>
            <a:r>
              <a:t>⚡ Constraint : Header table for patient prescription</a:t>
            </a:r>
          </a:p>
        </p:txBody>
      </p:sp>
      <p:sp>
        <p:nvSpPr>
          <p:cNvPr id="17" name="Rounded Rectangle 16"/>
          <p:cNvSpPr/>
          <p:nvPr/>
        </p:nvSpPr>
        <p:spPr>
          <a:xfrm>
            <a:off x="4389120" y="406908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89120" y="4069080"/>
            <a:ext cx="3383280" cy="43891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PRESCRIPTION_ITEMS (3NF)</a:t>
            </a:r>
          </a:p>
        </p:txBody>
      </p:sp>
      <p:sp>
        <p:nvSpPr>
          <p:cNvPr id="19" name="TextBox 18"/>
          <p:cNvSpPr txBox="1"/>
          <p:nvPr/>
        </p:nvSpPr>
        <p:spPr>
          <a:xfrm>
            <a:off x="4526280" y="4544568"/>
            <a:ext cx="3108960" cy="1728216"/>
          </a:xfrm>
          <a:prstGeom prst="rect">
            <a:avLst/>
          </a:prstGeom>
          <a:noFill/>
        </p:spPr>
        <p:txBody>
          <a:bodyPr wrap="square">
            <a:spAutoFit/>
          </a:bodyPr>
          <a:lstStyle/>
          <a:p>
            <a:pPr>
              <a:spcBef>
                <a:spcPts val="200"/>
              </a:spcBef>
              <a:defRPr sz="1150" b="1">
                <a:solidFill>
                  <a:srgbClr val="B45309"/>
                </a:solidFill>
              </a:defRPr>
            </a:pPr>
            <a:r>
              <a:t>🔑 Primary Key : item_id (SERIAL)</a:t>
            </a:r>
          </a:p>
          <a:p>
            <a:pPr>
              <a:spcBef>
                <a:spcPts val="400"/>
              </a:spcBef>
              <a:defRPr sz="1100" b="1">
                <a:solidFill>
                  <a:srgbClr val="0284C7"/>
                </a:solidFill>
              </a:defRPr>
            </a:pPr>
            <a:r>
              <a:t>🔗 Foreign Keys : prescription_id → prescriptions (ON DELETE CASCADE)</a:t>
            </a:r>
          </a:p>
          <a:p>
            <a:pPr>
              <a:spcBef>
                <a:spcPts val="400"/>
              </a:spcBef>
              <a:defRPr sz="1100">
                <a:solidFill>
                  <a:srgbClr val="334155"/>
                </a:solidFill>
              </a:defRPr>
            </a:pPr>
            <a:r>
              <a:t>📋 Attributes : medicine_name, dosage, frequency, duration_days &gt; 0, instructions</a:t>
            </a:r>
          </a:p>
          <a:p>
            <a:pPr>
              <a:spcBef>
                <a:spcPts val="400"/>
              </a:spcBef>
              <a:defRPr sz="1050" b="1">
                <a:solidFill>
                  <a:srgbClr val="DB2777"/>
                </a:solidFill>
              </a:defRPr>
            </a:pPr>
            <a:r>
              <a:t>⚡ Constraint : Decomposed multi-valued medicines (1NF/3NF)</a:t>
            </a:r>
          </a:p>
        </p:txBody>
      </p:sp>
      <p:sp>
        <p:nvSpPr>
          <p:cNvPr id="20" name="Rounded Rectangle 19"/>
          <p:cNvSpPr/>
          <p:nvPr/>
        </p:nvSpPr>
        <p:spPr>
          <a:xfrm>
            <a:off x="8046720" y="406908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46720" y="4069080"/>
            <a:ext cx="3383280" cy="43891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TEST_ORDERS (BRIDGE)</a:t>
            </a:r>
          </a:p>
        </p:txBody>
      </p:sp>
      <p:sp>
        <p:nvSpPr>
          <p:cNvPr id="22" name="TextBox 21"/>
          <p:cNvSpPr txBox="1"/>
          <p:nvPr/>
        </p:nvSpPr>
        <p:spPr>
          <a:xfrm>
            <a:off x="8183880" y="4544568"/>
            <a:ext cx="3108960" cy="1728216"/>
          </a:xfrm>
          <a:prstGeom prst="rect">
            <a:avLst/>
          </a:prstGeom>
          <a:noFill/>
        </p:spPr>
        <p:txBody>
          <a:bodyPr wrap="square">
            <a:spAutoFit/>
          </a:bodyPr>
          <a:lstStyle/>
          <a:p>
            <a:pPr>
              <a:spcBef>
                <a:spcPts val="200"/>
              </a:spcBef>
              <a:defRPr sz="1150" b="1">
                <a:solidFill>
                  <a:srgbClr val="B45309"/>
                </a:solidFill>
              </a:defRPr>
            </a:pPr>
            <a:r>
              <a:t>🔑 Primary Key : order_id (SERIAL)</a:t>
            </a:r>
          </a:p>
          <a:p>
            <a:pPr>
              <a:spcBef>
                <a:spcPts val="400"/>
              </a:spcBef>
              <a:defRPr sz="1100" b="1">
                <a:solidFill>
                  <a:srgbClr val="0284C7"/>
                </a:solidFill>
              </a:defRPr>
            </a:pPr>
            <a:r>
              <a:t>🔗 Foreign Keys : consultation_id → consultations, test_id → lab_tests</a:t>
            </a:r>
          </a:p>
          <a:p>
            <a:pPr>
              <a:spcBef>
                <a:spcPts val="400"/>
              </a:spcBef>
              <a:defRPr sz="1100">
                <a:solidFill>
                  <a:srgbClr val="334155"/>
                </a:solidFill>
              </a:defRPr>
            </a:pPr>
            <a:r>
              <a:t>📋 Attributes : order_date, status (ORDERED, SAMPLE_COLLECTED, COMPLETED), result_value, normal_range, doctor_comments</a:t>
            </a:r>
          </a:p>
          <a:p>
            <a:pPr>
              <a:spcBef>
                <a:spcPts val="400"/>
              </a:spcBef>
              <a:defRPr sz="1050" b="1">
                <a:solidFill>
                  <a:srgbClr val="DB2777"/>
                </a:solidFill>
              </a:defRPr>
            </a:pPr>
            <a:r>
              <a:t>⚡ Constraint : Associative table resolving M:N relationship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9184"/>
          </a:xfrm>
          <a:prstGeom prst="roundRect">
            <a:avLst/>
          </a:prstGeom>
          <a:solidFill>
            <a:srgbClr val="E6FFF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D9488"/>
                </a:solidFill>
              </a:defRPr>
            </a:pPr>
            <a:r>
              <a:t>DELIVERABLE 3 • RELATIONAL SCHEMA (PART 3)</a:t>
            </a:r>
          </a:p>
        </p:txBody>
      </p:sp>
      <p:sp>
        <p:nvSpPr>
          <p:cNvPr id="4" name="TextBox 3"/>
          <p:cNvSpPr txBox="1"/>
          <p:nvPr/>
        </p:nvSpPr>
        <p:spPr>
          <a:xfrm>
            <a:off x="731520" y="685800"/>
            <a:ext cx="10698480" cy="685800"/>
          </a:xfrm>
          <a:prstGeom prst="rect">
            <a:avLst/>
          </a:prstGeom>
          <a:noFill/>
        </p:spPr>
        <p:txBody>
          <a:bodyPr wrap="square">
            <a:spAutoFit/>
          </a:bodyPr>
          <a:lstStyle/>
          <a:p>
            <a:pPr>
              <a:defRPr sz="2300" b="1">
                <a:solidFill>
                  <a:srgbClr val="0F172A"/>
                </a:solidFill>
                <a:latin typeface="Arial"/>
              </a:defRPr>
            </a:pPr>
            <a:r>
              <a:t>Domain 3: Inpatient Beds &amp; Consolidated Billing</a:t>
            </a:r>
          </a:p>
          <a:p>
            <a:pPr>
              <a:spcBef>
                <a:spcPts val="200"/>
              </a:spcBef>
              <a:defRPr sz="1200">
                <a:solidFill>
                  <a:srgbClr val="64748B"/>
                </a:solidFill>
              </a:defRPr>
            </a:pPr>
            <a:r>
              <a:t>Wards, Bed Inventory, Inpatient Admissions, Itemized Invoices, and Payment Ledger</a:t>
            </a:r>
          </a:p>
        </p:txBody>
      </p:sp>
      <p:sp>
        <p:nvSpPr>
          <p:cNvPr id="5" name="Rounded Rectangle 4"/>
          <p:cNvSpPr/>
          <p:nvPr/>
        </p:nvSpPr>
        <p:spPr>
          <a:xfrm>
            <a:off x="731520" y="160020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383280" cy="438912"/>
          </a:xfrm>
          <a:prstGeom prst="round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WARDS</a:t>
            </a:r>
          </a:p>
        </p:txBody>
      </p:sp>
      <p:sp>
        <p:nvSpPr>
          <p:cNvPr id="7" name="TextBox 6"/>
          <p:cNvSpPr txBox="1"/>
          <p:nvPr/>
        </p:nvSpPr>
        <p:spPr>
          <a:xfrm>
            <a:off x="868680" y="2075688"/>
            <a:ext cx="3108960" cy="1728216"/>
          </a:xfrm>
          <a:prstGeom prst="rect">
            <a:avLst/>
          </a:prstGeom>
          <a:noFill/>
        </p:spPr>
        <p:txBody>
          <a:bodyPr wrap="square">
            <a:spAutoFit/>
          </a:bodyPr>
          <a:lstStyle/>
          <a:p>
            <a:pPr>
              <a:spcBef>
                <a:spcPts val="200"/>
              </a:spcBef>
              <a:defRPr sz="1150" b="1">
                <a:solidFill>
                  <a:srgbClr val="B45309"/>
                </a:solidFill>
              </a:defRPr>
            </a:pPr>
            <a:r>
              <a:t>🔑 Primary Key : ward_id (SERIAL)</a:t>
            </a:r>
          </a:p>
          <a:p>
            <a:pPr>
              <a:spcBef>
                <a:spcPts val="400"/>
              </a:spcBef>
              <a:defRPr sz="1100" b="1">
                <a:solidFill>
                  <a:srgbClr val="0284C7"/>
                </a:solidFill>
              </a:defRPr>
            </a:pPr>
            <a:r>
              <a:t>🔗 Foreign Keys : dept_id → departments</a:t>
            </a:r>
          </a:p>
          <a:p>
            <a:pPr>
              <a:spcBef>
                <a:spcPts val="400"/>
              </a:spcBef>
              <a:defRPr sz="1100">
                <a:solidFill>
                  <a:srgbClr val="334155"/>
                </a:solidFill>
              </a:defRPr>
            </a:pPr>
            <a:r>
              <a:t>📋 Attributes : ward_name (UQ), ward_type (GENERAL, ICU, PRIVATE), floor_number, capacity &gt; 0</a:t>
            </a:r>
          </a:p>
        </p:txBody>
      </p:sp>
      <p:sp>
        <p:nvSpPr>
          <p:cNvPr id="8" name="Rounded Rectangle 7"/>
          <p:cNvSpPr/>
          <p:nvPr/>
        </p:nvSpPr>
        <p:spPr>
          <a:xfrm>
            <a:off x="4389120" y="160020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600200"/>
            <a:ext cx="3383280" cy="438912"/>
          </a:xfrm>
          <a:prstGeom prst="round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BEDS</a:t>
            </a:r>
          </a:p>
        </p:txBody>
      </p:sp>
      <p:sp>
        <p:nvSpPr>
          <p:cNvPr id="10" name="TextBox 9"/>
          <p:cNvSpPr txBox="1"/>
          <p:nvPr/>
        </p:nvSpPr>
        <p:spPr>
          <a:xfrm>
            <a:off x="4526280" y="2075688"/>
            <a:ext cx="3108960" cy="1728216"/>
          </a:xfrm>
          <a:prstGeom prst="rect">
            <a:avLst/>
          </a:prstGeom>
          <a:noFill/>
        </p:spPr>
        <p:txBody>
          <a:bodyPr wrap="square">
            <a:spAutoFit/>
          </a:bodyPr>
          <a:lstStyle/>
          <a:p>
            <a:pPr>
              <a:spcBef>
                <a:spcPts val="200"/>
              </a:spcBef>
              <a:defRPr sz="1150" b="1">
                <a:solidFill>
                  <a:srgbClr val="B45309"/>
                </a:solidFill>
              </a:defRPr>
            </a:pPr>
            <a:r>
              <a:t>🔑 Primary Key : bed_id (SERIAL)</a:t>
            </a:r>
          </a:p>
          <a:p>
            <a:pPr>
              <a:spcBef>
                <a:spcPts val="400"/>
              </a:spcBef>
              <a:defRPr sz="1100" b="1">
                <a:solidFill>
                  <a:srgbClr val="0284C7"/>
                </a:solidFill>
              </a:defRPr>
            </a:pPr>
            <a:r>
              <a:t>🔗 Foreign Keys : ward_id → wards</a:t>
            </a:r>
          </a:p>
          <a:p>
            <a:pPr>
              <a:spcBef>
                <a:spcPts val="400"/>
              </a:spcBef>
              <a:defRPr sz="1100">
                <a:solidFill>
                  <a:srgbClr val="334155"/>
                </a:solidFill>
              </a:defRPr>
            </a:pPr>
            <a:r>
              <a:t>📋 Attributes : bed_number, daily_rate &gt;= 0, is_operational DEFAULT TRUE</a:t>
            </a:r>
          </a:p>
          <a:p>
            <a:pPr>
              <a:spcBef>
                <a:spcPts val="400"/>
              </a:spcBef>
              <a:defRPr sz="1050" b="1">
                <a:solidFill>
                  <a:srgbClr val="DB2777"/>
                </a:solidFill>
              </a:defRPr>
            </a:pPr>
            <a:r>
              <a:t>⚡ Constraint : UNIQUE (ward_id, bed_number)</a:t>
            </a:r>
          </a:p>
        </p:txBody>
      </p:sp>
      <p:sp>
        <p:nvSpPr>
          <p:cNvPr id="11" name="Rounded Rectangle 10"/>
          <p:cNvSpPr/>
          <p:nvPr/>
        </p:nvSpPr>
        <p:spPr>
          <a:xfrm>
            <a:off x="8046720" y="1600200"/>
            <a:ext cx="3383280" cy="224028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0" y="1600200"/>
            <a:ext cx="3383280" cy="438912"/>
          </a:xfrm>
          <a:prstGeom prst="round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ADMISSIONS</a:t>
            </a:r>
          </a:p>
        </p:txBody>
      </p:sp>
      <p:sp>
        <p:nvSpPr>
          <p:cNvPr id="13" name="TextBox 12"/>
          <p:cNvSpPr txBox="1"/>
          <p:nvPr/>
        </p:nvSpPr>
        <p:spPr>
          <a:xfrm>
            <a:off x="8183880" y="2075688"/>
            <a:ext cx="3108960" cy="1728216"/>
          </a:xfrm>
          <a:prstGeom prst="rect">
            <a:avLst/>
          </a:prstGeom>
          <a:noFill/>
        </p:spPr>
        <p:txBody>
          <a:bodyPr wrap="square">
            <a:spAutoFit/>
          </a:bodyPr>
          <a:lstStyle/>
          <a:p>
            <a:pPr>
              <a:spcBef>
                <a:spcPts val="200"/>
              </a:spcBef>
              <a:defRPr sz="1150" b="1">
                <a:solidFill>
                  <a:srgbClr val="B45309"/>
                </a:solidFill>
              </a:defRPr>
            </a:pPr>
            <a:r>
              <a:t>🔑 Primary Key : admission_id (SERIAL)</a:t>
            </a:r>
          </a:p>
          <a:p>
            <a:pPr>
              <a:spcBef>
                <a:spcPts val="400"/>
              </a:spcBef>
              <a:defRPr sz="1100" b="1">
                <a:solidFill>
                  <a:srgbClr val="0284C7"/>
                </a:solidFill>
              </a:defRPr>
            </a:pPr>
            <a:r>
              <a:t>🔗 Foreign Keys : patient_id → patients, bed_id → beds, doctor_id → doctors</a:t>
            </a:r>
          </a:p>
          <a:p>
            <a:pPr>
              <a:spcBef>
                <a:spcPts val="400"/>
              </a:spcBef>
              <a:defRPr sz="1100">
                <a:solidFill>
                  <a:srgbClr val="334155"/>
                </a:solidFill>
              </a:defRPr>
            </a:pPr>
            <a:r>
              <a:t>📋 Attributes : admission_date, discharge_date, admission_reason, status (ACTIVE, DISCHARGED)</a:t>
            </a:r>
          </a:p>
          <a:p>
            <a:pPr>
              <a:spcBef>
                <a:spcPts val="400"/>
              </a:spcBef>
              <a:defRPr sz="1050" b="1">
                <a:solidFill>
                  <a:srgbClr val="DB2777"/>
                </a:solidFill>
              </a:defRPr>
            </a:pPr>
            <a:r>
              <a:t>⚡ Constraint : PARTIAL UQ: 1 active patient per bed!</a:t>
            </a:r>
          </a:p>
        </p:txBody>
      </p:sp>
      <p:sp>
        <p:nvSpPr>
          <p:cNvPr id="14" name="Rounded Rectangle 13"/>
          <p:cNvSpPr/>
          <p:nvPr/>
        </p:nvSpPr>
        <p:spPr>
          <a:xfrm>
            <a:off x="731520" y="4069080"/>
            <a:ext cx="5212080" cy="22860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4069080"/>
            <a:ext cx="5212080" cy="43891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BILLS (CONSOLIDATED INVOICES)</a:t>
            </a:r>
          </a:p>
        </p:txBody>
      </p:sp>
      <p:sp>
        <p:nvSpPr>
          <p:cNvPr id="16" name="TextBox 15"/>
          <p:cNvSpPr txBox="1"/>
          <p:nvPr/>
        </p:nvSpPr>
        <p:spPr>
          <a:xfrm>
            <a:off x="868680" y="4544568"/>
            <a:ext cx="4937760" cy="1773936"/>
          </a:xfrm>
          <a:prstGeom prst="rect">
            <a:avLst/>
          </a:prstGeom>
          <a:noFill/>
        </p:spPr>
        <p:txBody>
          <a:bodyPr wrap="square">
            <a:spAutoFit/>
          </a:bodyPr>
          <a:lstStyle/>
          <a:p>
            <a:pPr>
              <a:spcBef>
                <a:spcPts val="200"/>
              </a:spcBef>
              <a:defRPr sz="1150" b="1">
                <a:solidFill>
                  <a:srgbClr val="B45309"/>
                </a:solidFill>
              </a:defRPr>
            </a:pPr>
            <a:r>
              <a:t>🔑 Primary Key : bill_id (SERIAL)</a:t>
            </a:r>
          </a:p>
          <a:p>
            <a:pPr>
              <a:spcBef>
                <a:spcPts val="400"/>
              </a:spcBef>
              <a:defRPr sz="1100" b="1">
                <a:solidFill>
                  <a:srgbClr val="0284C7"/>
                </a:solidFill>
              </a:defRPr>
            </a:pPr>
            <a:r>
              <a:t>🔗 Foreign Keys : patient_id → patients, consultation_id → consultations (NULLABLE), admission_id → admissions (NULLABLE)</a:t>
            </a:r>
          </a:p>
          <a:p>
            <a:pPr>
              <a:spcBef>
                <a:spcPts val="400"/>
              </a:spcBef>
              <a:defRPr sz="1100">
                <a:solidFill>
                  <a:srgbClr val="334155"/>
                </a:solidFill>
              </a:defRPr>
            </a:pPr>
            <a:r>
              <a:t>📋 Attributes : bill_date, total_amount &gt;= 0, discount_amount &gt;= 0, tax_amount &gt;= 0, net_payable, paid_amount, status</a:t>
            </a:r>
          </a:p>
          <a:p>
            <a:pPr>
              <a:spcBef>
                <a:spcPts val="400"/>
              </a:spcBef>
              <a:defRPr sz="1050" b="1">
                <a:solidFill>
                  <a:srgbClr val="DB2777"/>
                </a:solidFill>
              </a:defRPr>
            </a:pPr>
            <a:r>
              <a:t>⚡ Constraint : CHECK: paid_amount &lt;= net_payable</a:t>
            </a:r>
          </a:p>
        </p:txBody>
      </p:sp>
      <p:sp>
        <p:nvSpPr>
          <p:cNvPr id="17" name="Rounded Rectangle 16"/>
          <p:cNvSpPr/>
          <p:nvPr/>
        </p:nvSpPr>
        <p:spPr>
          <a:xfrm>
            <a:off x="6217920" y="4069080"/>
            <a:ext cx="5212080" cy="22860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4069080"/>
            <a:ext cx="5212080" cy="43891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TABLE : PAYMENTS (REMITTANCE LEDGER)</a:t>
            </a:r>
          </a:p>
        </p:txBody>
      </p:sp>
      <p:sp>
        <p:nvSpPr>
          <p:cNvPr id="19" name="TextBox 18"/>
          <p:cNvSpPr txBox="1"/>
          <p:nvPr/>
        </p:nvSpPr>
        <p:spPr>
          <a:xfrm>
            <a:off x="6355080" y="4544568"/>
            <a:ext cx="4937760" cy="1773936"/>
          </a:xfrm>
          <a:prstGeom prst="rect">
            <a:avLst/>
          </a:prstGeom>
          <a:noFill/>
        </p:spPr>
        <p:txBody>
          <a:bodyPr wrap="square">
            <a:spAutoFit/>
          </a:bodyPr>
          <a:lstStyle/>
          <a:p>
            <a:pPr>
              <a:spcBef>
                <a:spcPts val="200"/>
              </a:spcBef>
              <a:defRPr sz="1150" b="1">
                <a:solidFill>
                  <a:srgbClr val="B45309"/>
                </a:solidFill>
              </a:defRPr>
            </a:pPr>
            <a:r>
              <a:t>🔑 Primary Key : payment_id (SERIAL)</a:t>
            </a:r>
          </a:p>
          <a:p>
            <a:pPr>
              <a:spcBef>
                <a:spcPts val="400"/>
              </a:spcBef>
              <a:defRPr sz="1100" b="1">
                <a:solidFill>
                  <a:srgbClr val="0284C7"/>
                </a:solidFill>
              </a:defRPr>
            </a:pPr>
            <a:r>
              <a:t>🔗 Foreign Keys : bill_id → bills</a:t>
            </a:r>
          </a:p>
          <a:p>
            <a:pPr>
              <a:spcBef>
                <a:spcPts val="400"/>
              </a:spcBef>
              <a:defRPr sz="1100">
                <a:solidFill>
                  <a:srgbClr val="334155"/>
                </a:solidFill>
              </a:defRPr>
            </a:pPr>
            <a:r>
              <a:t>📋 Attributes : payment_timestamp DEFAULT NOW(), amount_paid &gt; 0, payment_method (CASH, CARD, UPI), transaction_ref (UQ), received_by</a:t>
            </a:r>
          </a:p>
          <a:p>
            <a:pPr>
              <a:spcBef>
                <a:spcPts val="400"/>
              </a:spcBef>
              <a:defRPr sz="1050" b="1">
                <a:solidFill>
                  <a:srgbClr val="DB2777"/>
                </a:solidFill>
              </a:defRPr>
            </a:pPr>
            <a:r>
              <a:t>⚡ Constraint : Supports installment payments without exceeding net_payable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9184"/>
          </a:xfrm>
          <a:prstGeom prst="roundRect">
            <a:avLst/>
          </a:prstGeom>
          <a:solidFill>
            <a:srgbClr val="E6FFF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D9488"/>
                </a:solidFill>
              </a:defRPr>
            </a:pPr>
            <a:r>
              <a:t>BUSINESS RULES ENFORCEMENT</a:t>
            </a:r>
          </a:p>
        </p:txBody>
      </p:sp>
      <p:sp>
        <p:nvSpPr>
          <p:cNvPr id="4" name="TextBox 3"/>
          <p:cNvSpPr txBox="1"/>
          <p:nvPr/>
        </p:nvSpPr>
        <p:spPr>
          <a:xfrm>
            <a:off x="731520" y="685800"/>
            <a:ext cx="10698480" cy="685800"/>
          </a:xfrm>
          <a:prstGeom prst="rect">
            <a:avLst/>
          </a:prstGeom>
          <a:noFill/>
        </p:spPr>
        <p:txBody>
          <a:bodyPr wrap="square">
            <a:spAutoFit/>
          </a:bodyPr>
          <a:lstStyle/>
          <a:p>
            <a:pPr>
              <a:defRPr sz="2300" b="1">
                <a:solidFill>
                  <a:srgbClr val="0F172A"/>
                </a:solidFill>
                <a:latin typeface="Arial"/>
              </a:defRPr>
            </a:pPr>
            <a:r>
              <a:t>Enforcing Critical Hospital Business Rules</a:t>
            </a:r>
          </a:p>
          <a:p>
            <a:pPr>
              <a:spcBef>
                <a:spcPts val="200"/>
              </a:spcBef>
              <a:defRPr sz="1200">
                <a:solidFill>
                  <a:srgbClr val="64748B"/>
                </a:solidFill>
              </a:defRPr>
            </a:pPr>
            <a:r>
              <a:t>Translating administrative mandates into database constraints and indexes</a:t>
            </a:r>
          </a:p>
        </p:txBody>
      </p:sp>
      <p:sp>
        <p:nvSpPr>
          <p:cNvPr id="5" name="Rounded Rectangle 4"/>
          <p:cNvSpPr/>
          <p:nvPr/>
        </p:nvSpPr>
        <p:spPr>
          <a:xfrm>
            <a:off x="731520" y="1645920"/>
            <a:ext cx="5212080" cy="21488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10972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10512"/>
            <a:ext cx="4754880" cy="1874520"/>
          </a:xfrm>
          <a:prstGeom prst="rect">
            <a:avLst/>
          </a:prstGeom>
          <a:noFill/>
        </p:spPr>
        <p:txBody>
          <a:bodyPr wrap="square">
            <a:spAutoFit/>
          </a:bodyPr>
          <a:lstStyle/>
          <a:p>
            <a:pPr>
              <a:defRPr sz="1500" b="1">
                <a:solidFill>
                  <a:srgbClr val="0284C7"/>
                </a:solidFill>
              </a:defRPr>
            </a:pPr>
            <a:r>
              <a:t>1. No Overlapping Appointments</a:t>
            </a:r>
          </a:p>
          <a:p>
            <a:pPr>
              <a:spcBef>
                <a:spcPts val="700"/>
              </a:spcBef>
              <a:defRPr sz="1250">
                <a:solidFill>
                  <a:srgbClr val="334155"/>
                </a:solidFill>
              </a:defRPr>
            </a:pPr>
            <a:r>
              <a:t>•  Rule: A doctor cannot be scheduled twice for the exact same slot.</a:t>
            </a:r>
          </a:p>
          <a:p>
            <a:pPr>
              <a:spcBef>
                <a:spcPts val="700"/>
              </a:spcBef>
              <a:defRPr sz="1250">
                <a:solidFill>
                  <a:srgbClr val="334155"/>
                </a:solidFill>
              </a:defRPr>
            </a:pPr>
            <a:r>
              <a:t>•  SQL Constraint: UNIQUE (doctor_id, appointment_date, start_time)</a:t>
            </a:r>
          </a:p>
        </p:txBody>
      </p:sp>
      <p:sp>
        <p:nvSpPr>
          <p:cNvPr id="8" name="Rounded Rectangle 7"/>
          <p:cNvSpPr/>
          <p:nvPr/>
        </p:nvSpPr>
        <p:spPr>
          <a:xfrm>
            <a:off x="6217920" y="1645920"/>
            <a:ext cx="5212080" cy="21488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645920"/>
            <a:ext cx="5212080" cy="109728"/>
          </a:xfrm>
          <a:prstGeom prst="round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810512"/>
            <a:ext cx="4754880" cy="1874520"/>
          </a:xfrm>
          <a:prstGeom prst="rect">
            <a:avLst/>
          </a:prstGeom>
          <a:noFill/>
        </p:spPr>
        <p:txBody>
          <a:bodyPr wrap="square">
            <a:spAutoFit/>
          </a:bodyPr>
          <a:lstStyle/>
          <a:p>
            <a:pPr>
              <a:defRPr sz="1500" b="1">
                <a:solidFill>
                  <a:srgbClr val="DB2777"/>
                </a:solidFill>
              </a:defRPr>
            </a:pPr>
            <a:r>
              <a:t>2. One Active Patient Per Bed</a:t>
            </a:r>
          </a:p>
          <a:p>
            <a:pPr>
              <a:spcBef>
                <a:spcPts val="700"/>
              </a:spcBef>
              <a:defRPr sz="1250">
                <a:solidFill>
                  <a:srgbClr val="334155"/>
                </a:solidFill>
              </a:defRPr>
            </a:pPr>
            <a:r>
              <a:t>•  Rule: A physical bed can accommodate at most ONE active patient.</a:t>
            </a:r>
          </a:p>
          <a:p>
            <a:pPr>
              <a:spcBef>
                <a:spcPts val="700"/>
              </a:spcBef>
              <a:defRPr sz="1250">
                <a:solidFill>
                  <a:srgbClr val="334155"/>
                </a:solidFill>
              </a:defRPr>
            </a:pPr>
            <a:r>
              <a:t>•  SQL Index: CREATE UNIQUE INDEX ON admissions(bed_id) WHERE status = 'ACTIVE'</a:t>
            </a:r>
          </a:p>
        </p:txBody>
      </p:sp>
      <p:sp>
        <p:nvSpPr>
          <p:cNvPr id="11" name="Rounded Rectangle 10"/>
          <p:cNvSpPr/>
          <p:nvPr/>
        </p:nvSpPr>
        <p:spPr>
          <a:xfrm>
            <a:off x="731520" y="4069080"/>
            <a:ext cx="5212080" cy="21488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069080"/>
            <a:ext cx="5212080" cy="10972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233672"/>
            <a:ext cx="4754880" cy="1874520"/>
          </a:xfrm>
          <a:prstGeom prst="rect">
            <a:avLst/>
          </a:prstGeom>
          <a:noFill/>
        </p:spPr>
        <p:txBody>
          <a:bodyPr wrap="square">
            <a:spAutoFit/>
          </a:bodyPr>
          <a:lstStyle/>
          <a:p>
            <a:pPr>
              <a:defRPr sz="1500" b="1">
                <a:solidFill>
                  <a:srgbClr val="D97706"/>
                </a:solidFill>
              </a:defRPr>
            </a:pPr>
            <a:r>
              <a:t>3. Valid Admission &amp; Discharge Dates</a:t>
            </a:r>
          </a:p>
          <a:p>
            <a:pPr>
              <a:spcBef>
                <a:spcPts val="700"/>
              </a:spcBef>
              <a:defRPr sz="1250">
                <a:solidFill>
                  <a:srgbClr val="334155"/>
                </a:solidFill>
              </a:defRPr>
            </a:pPr>
            <a:r>
              <a:t>•  Rule: Discharge date cannot precede admission date.</a:t>
            </a:r>
          </a:p>
          <a:p>
            <a:pPr>
              <a:spcBef>
                <a:spcPts val="700"/>
              </a:spcBef>
              <a:defRPr sz="1250">
                <a:solidFill>
                  <a:srgbClr val="334155"/>
                </a:solidFill>
              </a:defRPr>
            </a:pPr>
            <a:r>
              <a:t>•  SQL Constraint: CHECK (discharge_date IS NULL OR discharge_date &gt;= admission_date)</a:t>
            </a:r>
          </a:p>
        </p:txBody>
      </p:sp>
      <p:sp>
        <p:nvSpPr>
          <p:cNvPr id="14" name="Rounded Rectangle 13"/>
          <p:cNvSpPr/>
          <p:nvPr/>
        </p:nvSpPr>
        <p:spPr>
          <a:xfrm>
            <a:off x="6217920" y="4069080"/>
            <a:ext cx="5212080" cy="21488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4069080"/>
            <a:ext cx="5212080" cy="10972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233672"/>
            <a:ext cx="4754880" cy="1874520"/>
          </a:xfrm>
          <a:prstGeom prst="rect">
            <a:avLst/>
          </a:prstGeom>
          <a:noFill/>
        </p:spPr>
        <p:txBody>
          <a:bodyPr wrap="square">
            <a:spAutoFit/>
          </a:bodyPr>
          <a:lstStyle/>
          <a:p>
            <a:pPr>
              <a:defRPr sz="1500" b="1">
                <a:solidFill>
                  <a:srgbClr val="059669"/>
                </a:solidFill>
              </a:defRPr>
            </a:pPr>
            <a:r>
              <a:t>4. Positive Charges &amp; Payment Limits</a:t>
            </a:r>
          </a:p>
          <a:p>
            <a:pPr>
              <a:spcBef>
                <a:spcPts val="700"/>
              </a:spcBef>
              <a:defRPr sz="1250">
                <a:solidFill>
                  <a:srgbClr val="334155"/>
                </a:solidFill>
              </a:defRPr>
            </a:pPr>
            <a:r>
              <a:t>•  Rule: Zero negative bills; cumulative payments cannot exceed net payable.</a:t>
            </a:r>
          </a:p>
          <a:p>
            <a:pPr>
              <a:spcBef>
                <a:spcPts val="700"/>
              </a:spcBef>
              <a:defRPr sz="1250">
                <a:solidFill>
                  <a:srgbClr val="334155"/>
                </a:solidFill>
              </a:defRPr>
            </a:pPr>
            <a:r>
              <a:t>•  SQL Constraint: CHECK (total_amount &gt;= 0 AND paid_amount &lt;= net_payable)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9184"/>
          </a:xfrm>
          <a:prstGeom prst="roundRect">
            <a:avLst/>
          </a:prstGeom>
          <a:solidFill>
            <a:srgbClr val="14B8A6"/>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B1329"/>
                </a:solidFill>
              </a:defRPr>
            </a:pPr>
            <a:r>
              <a:t>MILESTONE SUMMARY &amp; DEFENSE</a:t>
            </a:r>
          </a:p>
        </p:txBody>
      </p:sp>
      <p:sp>
        <p:nvSpPr>
          <p:cNvPr id="4" name="TextBox 3"/>
          <p:cNvSpPr txBox="1"/>
          <p:nvPr/>
        </p:nvSpPr>
        <p:spPr>
          <a:xfrm>
            <a:off x="731520" y="685800"/>
            <a:ext cx="10698480" cy="685800"/>
          </a:xfrm>
          <a:prstGeom prst="rect">
            <a:avLst/>
          </a:prstGeom>
          <a:noFill/>
        </p:spPr>
        <p:txBody>
          <a:bodyPr wrap="square">
            <a:spAutoFit/>
          </a:bodyPr>
          <a:lstStyle/>
          <a:p>
            <a:pPr>
              <a:defRPr sz="2300" b="1">
                <a:solidFill>
                  <a:srgbClr val="FFFFFF"/>
                </a:solidFill>
                <a:latin typeface="Arial"/>
              </a:defRPr>
            </a:pPr>
            <a:r>
              <a:t>Conclusion &amp; Project Roadmap</a:t>
            </a:r>
          </a:p>
          <a:p>
            <a:pPr>
              <a:spcBef>
                <a:spcPts val="200"/>
              </a:spcBef>
              <a:defRPr sz="1200">
                <a:solidFill>
                  <a:srgbClr val="94A3B8"/>
                </a:solidFill>
              </a:defRPr>
            </a:pPr>
            <a:r>
              <a:t>Review 1 deliverables fulfilled • Prepared for Review 2 (Week 11)</a:t>
            </a:r>
          </a:p>
        </p:txBody>
      </p:sp>
      <p:sp>
        <p:nvSpPr>
          <p:cNvPr id="5" name="Rounded Rectangle 4"/>
          <p:cNvSpPr/>
          <p:nvPr/>
        </p:nvSpPr>
        <p:spPr>
          <a:xfrm>
            <a:off x="731520" y="1645920"/>
            <a:ext cx="3337560" cy="3931920"/>
          </a:xfrm>
          <a:prstGeom prst="roundRect">
            <a:avLst/>
          </a:prstGeom>
          <a:solidFill>
            <a:srgbClr val="0F172A"/>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37560" cy="109728"/>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10512"/>
            <a:ext cx="2880360" cy="3657600"/>
          </a:xfrm>
          <a:prstGeom prst="rect">
            <a:avLst/>
          </a:prstGeom>
          <a:noFill/>
        </p:spPr>
        <p:txBody>
          <a:bodyPr wrap="square">
            <a:spAutoFit/>
          </a:bodyPr>
          <a:lstStyle/>
          <a:p>
            <a:pPr>
              <a:defRPr sz="1500" b="1">
                <a:solidFill>
                  <a:srgbClr val="059669"/>
                </a:solidFill>
              </a:defRPr>
            </a:pPr>
            <a:r>
              <a:t>Review 1 (Week 7)  [5 Marks]</a:t>
            </a:r>
          </a:p>
          <a:p>
            <a:pPr>
              <a:spcBef>
                <a:spcPts val="700"/>
              </a:spcBef>
              <a:defRPr sz="1250">
                <a:solidFill>
                  <a:srgbClr val="E2E8F0"/>
                </a:solidFill>
              </a:defRPr>
            </a:pPr>
            <a:r>
              <a:t>•  Problem identification &amp; system boundaries</a:t>
            </a:r>
          </a:p>
          <a:p>
            <a:pPr>
              <a:spcBef>
                <a:spcPts val="700"/>
              </a:spcBef>
              <a:defRPr sz="1250">
                <a:solidFill>
                  <a:srgbClr val="E2E8F0"/>
                </a:solidFill>
              </a:defRPr>
            </a:pPr>
            <a:r>
              <a:t>•  Classical Chen ER Model (13 entities)</a:t>
            </a:r>
          </a:p>
          <a:p>
            <a:pPr>
              <a:spcBef>
                <a:spcPts val="700"/>
              </a:spcBef>
              <a:defRPr sz="1250">
                <a:solidFill>
                  <a:srgbClr val="E2E8F0"/>
                </a:solidFill>
              </a:defRPr>
            </a:pPr>
            <a:r>
              <a:t>•  3NF Relational Schema across 3 domains</a:t>
            </a:r>
          </a:p>
          <a:p>
            <a:pPr>
              <a:spcBef>
                <a:spcPts val="700"/>
              </a:spcBef>
              <a:defRPr sz="1250">
                <a:solidFill>
                  <a:srgbClr val="E2E8F0"/>
                </a:solidFill>
              </a:defRPr>
            </a:pPr>
            <a:r>
              <a:t>•  STATUS: COMPLETED</a:t>
            </a:r>
          </a:p>
        </p:txBody>
      </p:sp>
      <p:sp>
        <p:nvSpPr>
          <p:cNvPr id="8" name="Rounded Rectangle 7"/>
          <p:cNvSpPr/>
          <p:nvPr/>
        </p:nvSpPr>
        <p:spPr>
          <a:xfrm>
            <a:off x="4416552" y="1645920"/>
            <a:ext cx="3337560" cy="3931920"/>
          </a:xfrm>
          <a:prstGeom prst="roundRect">
            <a:avLst/>
          </a:prstGeom>
          <a:solidFill>
            <a:srgbClr val="0F172A"/>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6552" y="1645920"/>
            <a:ext cx="3337560" cy="10972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5152" y="1810512"/>
            <a:ext cx="2880360" cy="3657600"/>
          </a:xfrm>
          <a:prstGeom prst="rect">
            <a:avLst/>
          </a:prstGeom>
          <a:noFill/>
        </p:spPr>
        <p:txBody>
          <a:bodyPr wrap="square">
            <a:spAutoFit/>
          </a:bodyPr>
          <a:lstStyle/>
          <a:p>
            <a:pPr>
              <a:defRPr sz="1500" b="1">
                <a:solidFill>
                  <a:srgbClr val="0284C7"/>
                </a:solidFill>
              </a:defRPr>
            </a:pPr>
            <a:r>
              <a:t>Review 2 (Week 11)  [Next]</a:t>
            </a:r>
          </a:p>
          <a:p>
            <a:pPr>
              <a:spcBef>
                <a:spcPts val="700"/>
              </a:spcBef>
              <a:defRPr sz="1250">
                <a:solidFill>
                  <a:srgbClr val="E2E8F0"/>
                </a:solidFill>
              </a:defRPr>
            </a:pPr>
            <a:r>
              <a:t>•  DDL implementation in MySQL / PostgreSQL</a:t>
            </a:r>
          </a:p>
          <a:p>
            <a:pPr>
              <a:spcBef>
                <a:spcPts val="700"/>
              </a:spcBef>
              <a:defRPr sz="1250">
                <a:solidFill>
                  <a:srgbClr val="E2E8F0"/>
                </a:solidFill>
              </a:defRPr>
            </a:pPr>
            <a:r>
              <a:t>•  Complex multi-table join queries &amp; reporting</a:t>
            </a:r>
          </a:p>
          <a:p>
            <a:pPr>
              <a:spcBef>
                <a:spcPts val="700"/>
              </a:spcBef>
              <a:defRPr sz="1250">
                <a:solidFill>
                  <a:srgbClr val="E2E8F0"/>
                </a:solidFill>
              </a:defRPr>
            </a:pPr>
            <a:r>
              <a:t>•  Analytical views: Bed Occupancy &amp; Revenue</a:t>
            </a:r>
          </a:p>
          <a:p>
            <a:pPr>
              <a:spcBef>
                <a:spcPts val="700"/>
              </a:spcBef>
              <a:defRPr sz="1250">
                <a:solidFill>
                  <a:srgbClr val="E2E8F0"/>
                </a:solidFill>
              </a:defRPr>
            </a:pPr>
            <a:r>
              <a:t>•  Triggers for appointment conflict checks</a:t>
            </a:r>
          </a:p>
        </p:txBody>
      </p:sp>
      <p:sp>
        <p:nvSpPr>
          <p:cNvPr id="11" name="Rounded Rectangle 10"/>
          <p:cNvSpPr/>
          <p:nvPr/>
        </p:nvSpPr>
        <p:spPr>
          <a:xfrm>
            <a:off x="8101584" y="1645920"/>
            <a:ext cx="3337560" cy="3931920"/>
          </a:xfrm>
          <a:prstGeom prst="roundRect">
            <a:avLst/>
          </a:prstGeom>
          <a:solidFill>
            <a:srgbClr val="0F172A"/>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01584" y="1645920"/>
            <a:ext cx="3337560" cy="10972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0184" y="1810512"/>
            <a:ext cx="2880360" cy="3657600"/>
          </a:xfrm>
          <a:prstGeom prst="rect">
            <a:avLst/>
          </a:prstGeom>
          <a:noFill/>
        </p:spPr>
        <p:txBody>
          <a:bodyPr wrap="square">
            <a:spAutoFit/>
          </a:bodyPr>
          <a:lstStyle/>
          <a:p>
            <a:pPr>
              <a:defRPr sz="1500" b="1">
                <a:solidFill>
                  <a:srgbClr val="7C3AED"/>
                </a:solidFill>
              </a:defRPr>
            </a:pPr>
            <a:r>
              <a:t>Final Review (Week 14)</a:t>
            </a:r>
          </a:p>
          <a:p>
            <a:pPr>
              <a:spcBef>
                <a:spcPts val="700"/>
              </a:spcBef>
              <a:defRPr sz="1250">
                <a:solidFill>
                  <a:srgbClr val="E2E8F0"/>
                </a:solidFill>
              </a:defRPr>
            </a:pPr>
            <a:r>
              <a:t>•  Full-stack application integration</a:t>
            </a:r>
          </a:p>
          <a:p>
            <a:pPr>
              <a:spcBef>
                <a:spcPts val="700"/>
              </a:spcBef>
              <a:defRPr sz="1250">
                <a:solidFill>
                  <a:srgbClr val="E2E8F0"/>
                </a:solidFill>
              </a:defRPr>
            </a:pPr>
            <a:r>
              <a:t>•  Front-end UI for reception, doctors &amp; billing</a:t>
            </a:r>
          </a:p>
          <a:p>
            <a:pPr>
              <a:spcBef>
                <a:spcPts val="700"/>
              </a:spcBef>
              <a:defRPr sz="1250">
                <a:solidFill>
                  <a:srgbClr val="E2E8F0"/>
                </a:solidFill>
              </a:defRPr>
            </a:pPr>
            <a:r>
              <a:t>•  Role-based authentication &amp; patient portal</a:t>
            </a:r>
          </a:p>
          <a:p>
            <a:pPr>
              <a:spcBef>
                <a:spcPts val="700"/>
              </a:spcBef>
              <a:defRPr sz="1250">
                <a:solidFill>
                  <a:srgbClr val="E2E8F0"/>
                </a:solidFill>
              </a:defRPr>
            </a:pPr>
            <a:r>
              <a:t>•  End-to-end live demonstration</a:t>
            </a:r>
          </a:p>
        </p:txBody>
      </p:sp>
      <p:sp>
        <p:nvSpPr>
          <p:cNvPr id="14" name="TextBox 13"/>
          <p:cNvSpPr txBox="1"/>
          <p:nvPr/>
        </p:nvSpPr>
        <p:spPr>
          <a:xfrm>
            <a:off x="731520" y="5760720"/>
            <a:ext cx="10698480" cy="548640"/>
          </a:xfrm>
          <a:prstGeom prst="rect">
            <a:avLst/>
          </a:prstGeom>
          <a:noFill/>
        </p:spPr>
        <p:txBody>
          <a:bodyPr wrap="none">
            <a:spAutoFit/>
          </a:bodyPr>
          <a:lstStyle/>
          <a:p>
            <a:pPr algn="ctr">
              <a:defRPr sz="1600" b="1">
                <a:solidFill>
                  <a:srgbClr val="14B8A6"/>
                </a:solidFill>
              </a:defRPr>
            </a:pPr>
            <a:r>
              <a:t>Thank You  •  Open for Evaluator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